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3" r:id="rId10"/>
    <p:sldId id="264" r:id="rId11"/>
    <p:sldId id="267" r:id="rId12"/>
  </p:sldIdLst>
  <p:sldSz cx="9144000" cy="5143500" type="screen16x9"/>
  <p:notesSz cx="5143500" cy="9144000"/>
  <p:embeddedFontLst>
    <p:embeddedFont>
      <p:font typeface="Constantia" panose="02030602050306030303" pitchFamily="18" charset="0"/>
      <p:regular r:id="rId14"/>
      <p:bold r:id="rId15"/>
      <p:italic r:id="rId16"/>
      <p:boldItalic r:id="rId17"/>
    </p:embeddedFont>
    <p:embeddedFont>
      <p:font typeface="Inter" panose="020B0604020202020204" charset="0"/>
      <p:regular r:id="rId18"/>
    </p:embeddedFont>
    <p:embeddedFont>
      <p:font typeface="Inter Bold" panose="020B0604020202020204" charset="0"/>
      <p:regular r:id="rId19"/>
    </p:embeddedFont>
    <p:embeddedFont>
      <p:font typeface="Petrona 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9437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microsoft.com/office/2007/relationships/hdphoto" Target="../media/hdphoto2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eeexplore.ieee.org/document/10077569?denied=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76E08C2-4D3A-E555-69FA-1A4B18824EE0}"/>
              </a:ext>
            </a:extLst>
          </p:cNvPr>
          <p:cNvGrpSpPr/>
          <p:nvPr/>
        </p:nvGrpSpPr>
        <p:grpSpPr>
          <a:xfrm>
            <a:off x="-3411" y="0"/>
            <a:ext cx="9650354" cy="5143500"/>
            <a:chOff x="-3411" y="0"/>
            <a:chExt cx="9650354" cy="514350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14E5F22-9DFF-1467-7F45-CFB36F3D5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3411" y="0"/>
              <a:ext cx="9150824" cy="5143500"/>
            </a:xfrm>
            <a:prstGeom prst="rect">
              <a:avLst/>
            </a:prstGeom>
          </p:spPr>
        </p:pic>
        <p:sp>
          <p:nvSpPr>
            <p:cNvPr id="3" name="Text 0"/>
            <p:cNvSpPr/>
            <p:nvPr/>
          </p:nvSpPr>
          <p:spPr>
            <a:xfrm>
              <a:off x="496119" y="1234752"/>
              <a:ext cx="4503047" cy="20352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lnSpc>
                  <a:spcPct val="104000"/>
                </a:lnSpc>
                <a:buNone/>
              </a:pPr>
              <a:r>
                <a:rPr lang="en-US" sz="2400" b="1" dirty="0">
                  <a:solidFill>
                    <a:srgbClr val="000000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A Systematic Review on Federated Learning in Medical Image Analysis</a:t>
              </a:r>
            </a:p>
            <a:p>
              <a:pPr>
                <a:lnSpc>
                  <a:spcPct val="104000"/>
                </a:lnSpc>
              </a:pPr>
              <a:endPara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endParaRPr>
            </a:p>
            <a:p>
              <a:pPr>
                <a:lnSpc>
                  <a:spcPct val="104000"/>
                </a:lnSpc>
              </a:pPr>
              <a:r>
                <a:rPr lang="en-US" sz="9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By Sohan &amp; </a:t>
              </a:r>
              <a:r>
                <a:rPr lang="en-US" sz="900" dirty="0" err="1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Basalamah</a:t>
              </a:r>
              <a:r>
                <a:rPr lang="en-US" sz="9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(2023)</a:t>
              </a:r>
              <a:endParaRPr lang="en-US" sz="900" dirty="0"/>
            </a:p>
            <a:p>
              <a:pPr marL="0" indent="0">
                <a:lnSpc>
                  <a:spcPct val="104000"/>
                </a:lnSpc>
                <a:buNone/>
              </a:pPr>
              <a:endParaRPr lang="en-US" sz="2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endParaRPr>
            </a:p>
          </p:txBody>
        </p:sp>
        <p:sp>
          <p:nvSpPr>
            <p:cNvPr id="4" name="Text 1"/>
            <p:cNvSpPr/>
            <p:nvPr/>
          </p:nvSpPr>
          <p:spPr>
            <a:xfrm>
              <a:off x="496119" y="2882354"/>
              <a:ext cx="517996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200" b="1" u="sng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Presented By</a:t>
              </a:r>
              <a:endParaRPr lang="en-US" sz="120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496119" y="3269977"/>
              <a:ext cx="4722763" cy="16351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1050"/>
                </a:spcAft>
                <a:buNone/>
              </a:pPr>
              <a:r>
                <a:rPr lang="en-US" sz="950" b="1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Name: </a:t>
              </a:r>
              <a:r>
                <a:rPr lang="en-US" sz="9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Joy Kumar Dey</a:t>
              </a:r>
            </a:p>
            <a:p>
              <a:pPr marL="0" indent="0" algn="l">
                <a:spcAft>
                  <a:spcPts val="1050"/>
                </a:spcAft>
                <a:buNone/>
              </a:pPr>
              <a:r>
                <a:rPr lang="en-US" sz="950" b="1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ID: </a:t>
              </a:r>
              <a:r>
                <a:rPr lang="en-US" sz="9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2671506</a:t>
              </a:r>
              <a:endParaRPr lang="en-US" sz="950" dirty="0"/>
            </a:p>
            <a:p>
              <a:pPr marL="0" indent="0" algn="l">
                <a:spcAft>
                  <a:spcPts val="1050"/>
                </a:spcAft>
                <a:buNone/>
              </a:pPr>
              <a:r>
                <a:rPr lang="en-US" sz="950" b="1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Course Code: </a:t>
              </a:r>
              <a:r>
                <a:rPr lang="en-US" sz="9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ICT 6513</a:t>
              </a:r>
              <a:endParaRPr lang="en-US" sz="950" dirty="0"/>
            </a:p>
            <a:p>
              <a:pPr marL="0" indent="0" algn="l">
                <a:buNone/>
              </a:pPr>
              <a:r>
                <a:rPr lang="en-US" sz="950" b="1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Course Title: </a:t>
              </a:r>
              <a:r>
                <a:rPr lang="en-US" sz="9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Artificial Intelligence in Healthcare</a:t>
              </a:r>
              <a:endParaRPr lang="en-US" sz="950" dirty="0"/>
            </a:p>
          </p:txBody>
        </p:sp>
        <p:pic>
          <p:nvPicPr>
            <p:cNvPr id="9" name="Picture 8" descr="What is Federated Learning? | A-Z of AI for Healthcare">
              <a:extLst>
                <a:ext uri="{FF2B5EF4-FFF2-40B4-BE49-F238E27FC236}">
                  <a16:creationId xmlns:a16="http://schemas.microsoft.com/office/drawing/2014/main" id="{6BABF124-E307-4157-AA94-5B480297BB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66980" y="1239455"/>
              <a:ext cx="5179963" cy="2913729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D43754D-2D2C-657F-4573-656C7F131730}"/>
              </a:ext>
            </a:extLst>
          </p:cNvPr>
          <p:cNvSpPr txBox="1"/>
          <p:nvPr/>
        </p:nvSpPr>
        <p:spPr>
          <a:xfrm>
            <a:off x="-722002" y="180281"/>
            <a:ext cx="10377963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tantia" panose="02030602050306030303" pitchFamily="18" charset="0"/>
                <a:cs typeface="Arial" panose="020B0604020202020204" pitchFamily="34" charset="0"/>
              </a:rPr>
              <a:t>Institute of Information and Communication Technology</a:t>
            </a:r>
          </a:p>
          <a:p>
            <a:pPr algn="ctr">
              <a:defRPr/>
            </a:pPr>
            <a:r>
              <a:rPr lang="en-US" sz="2000" b="1" dirty="0">
                <a:solidFill>
                  <a:srgbClr val="007035"/>
                </a:solidFill>
                <a:latin typeface="Constantia" panose="02030602050306030303" pitchFamily="18" charset="0"/>
                <a:cs typeface="Arial" panose="020B0604020202020204" pitchFamily="34" charset="0"/>
              </a:rPr>
              <a:t>Khulna University of Engineering &amp; Technology, Khulna</a:t>
            </a:r>
          </a:p>
          <a:p>
            <a:pPr algn="ctr">
              <a:defRPr/>
            </a:pPr>
            <a:endParaRPr lang="en-US" sz="2400" dirty="0">
              <a:latin typeface="Constantia" panose="02030602050306030303" pitchFamily="18" charset="0"/>
              <a:cs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2863B02-0E95-1EC0-7B33-04C080019F5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5821" y="53488"/>
            <a:ext cx="700905" cy="7703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29D7AA5-A36C-21EC-FA81-557D5A6E83C2}"/>
              </a:ext>
            </a:extLst>
          </p:cNvPr>
          <p:cNvGrpSpPr/>
          <p:nvPr/>
        </p:nvGrpSpPr>
        <p:grpSpPr>
          <a:xfrm>
            <a:off x="496117" y="422608"/>
            <a:ext cx="8647883" cy="4671148"/>
            <a:chOff x="496117" y="422608"/>
            <a:chExt cx="8647883" cy="4671148"/>
          </a:xfrm>
        </p:grpSpPr>
        <p:sp>
          <p:nvSpPr>
            <p:cNvPr id="2" name="Text 0"/>
            <p:cNvSpPr/>
            <p:nvPr/>
          </p:nvSpPr>
          <p:spPr>
            <a:xfrm>
              <a:off x="496118" y="422608"/>
              <a:ext cx="8151763" cy="4070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550" b="1" dirty="0">
                  <a:solidFill>
                    <a:srgbClr val="000000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Outline</a:t>
              </a:r>
              <a:endParaRPr lang="en-US" sz="255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496117" y="912465"/>
              <a:ext cx="8151763" cy="21703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193040" indent="-193040" algn="l">
                <a:lnSpc>
                  <a:spcPct val="200000"/>
                </a:lnSpc>
                <a:buSzPct val="100000"/>
                <a:buChar char="•"/>
              </a:pPr>
              <a:r>
                <a:rPr lang="en-US" sz="9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Problem Statement</a:t>
              </a:r>
              <a:endParaRPr lang="en-US" sz="900" dirty="0"/>
            </a:p>
            <a:p>
              <a:pPr marL="193040" indent="-193040" algn="l">
                <a:lnSpc>
                  <a:spcPct val="200000"/>
                </a:lnSpc>
                <a:buSzPct val="100000"/>
                <a:buChar char="•"/>
              </a:pPr>
              <a:r>
                <a:rPr lang="en-US" sz="9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Taxonomy</a:t>
              </a:r>
              <a:endParaRPr lang="en-US" sz="900" dirty="0"/>
            </a:p>
            <a:p>
              <a:pPr marL="193040" indent="-193040" algn="l">
                <a:lnSpc>
                  <a:spcPct val="200000"/>
                </a:lnSpc>
                <a:buSzPct val="100000"/>
                <a:buChar char="•"/>
              </a:pPr>
              <a:r>
                <a:rPr lang="en-US" sz="9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Security &amp; Privacy</a:t>
              </a:r>
              <a:endParaRPr lang="en-US" sz="900" dirty="0"/>
            </a:p>
            <a:p>
              <a:pPr marL="193040" indent="-193040" algn="l">
                <a:lnSpc>
                  <a:spcPct val="200000"/>
                </a:lnSpc>
                <a:buSzPct val="100000"/>
                <a:buChar char="•"/>
              </a:pPr>
              <a:r>
                <a:rPr lang="en-US" sz="9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Open Challenges</a:t>
              </a:r>
              <a:endParaRPr lang="en-US" sz="900" dirty="0"/>
            </a:p>
            <a:p>
              <a:pPr marL="193040" indent="-193040" algn="l">
                <a:lnSpc>
                  <a:spcPct val="200000"/>
                </a:lnSpc>
                <a:buSzPct val="100000"/>
                <a:buChar char="•"/>
              </a:pPr>
              <a:r>
                <a:rPr lang="en-US" sz="9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Critical Analysis</a:t>
              </a:r>
              <a:endParaRPr lang="en-US" sz="900" dirty="0"/>
            </a:p>
            <a:p>
              <a:pPr marL="193040" indent="-193040" algn="l">
                <a:lnSpc>
                  <a:spcPct val="200000"/>
                </a:lnSpc>
                <a:buSzPct val="100000"/>
                <a:buChar char="•"/>
              </a:pPr>
              <a:r>
                <a:rPr lang="en-US" sz="9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Key Takeaways</a:t>
              </a:r>
            </a:p>
            <a:p>
              <a:pPr marL="193040" indent="-193040" algn="l">
                <a:lnSpc>
                  <a:spcPct val="200000"/>
                </a:lnSpc>
                <a:buSzPct val="100000"/>
                <a:buChar char="•"/>
              </a:pPr>
              <a:r>
                <a:rPr lang="en-US" sz="9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</a:rPr>
                <a:t>Primary References</a:t>
              </a:r>
              <a:endParaRPr lang="en-US" sz="900" dirty="0"/>
            </a:p>
            <a:p>
              <a:pPr marL="193040" indent="-193040" algn="l">
                <a:lnSpc>
                  <a:spcPct val="200000"/>
                </a:lnSpc>
                <a:buSzPct val="100000"/>
                <a:buChar char="•"/>
              </a:pPr>
              <a:r>
                <a:rPr lang="en-US" sz="9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Conclusion</a:t>
              </a:r>
              <a:endParaRPr lang="en-US" sz="9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96119" y="3356595"/>
              <a:ext cx="8151763" cy="874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33000"/>
                </a:lnSpc>
                <a:spcAft>
                  <a:spcPts val="1050"/>
                </a:spcAft>
                <a:buNone/>
              </a:pPr>
              <a:endParaRPr lang="en-US" sz="950" dirty="0"/>
            </a:p>
            <a:p>
              <a:pPr marL="0" indent="0" algn="l">
                <a:lnSpc>
                  <a:spcPct val="133000"/>
                </a:lnSpc>
                <a:spcAft>
                  <a:spcPts val="1050"/>
                </a:spcAft>
                <a:buNone/>
              </a:pPr>
              <a:endParaRPr lang="en-US" sz="950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FD955BC-AD43-4BB8-9298-1998784BF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76522" y="3217069"/>
              <a:ext cx="3067478" cy="1876687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AC61AEA-EFEB-BF07-94C1-AA84E528A389}"/>
              </a:ext>
            </a:extLst>
          </p:cNvPr>
          <p:cNvSpPr txBox="1"/>
          <p:nvPr/>
        </p:nvSpPr>
        <p:spPr>
          <a:xfrm>
            <a:off x="8510451" y="4892040"/>
            <a:ext cx="633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8" y="457745"/>
            <a:ext cx="8151763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 Statement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8" y="914350"/>
            <a:ext cx="8151763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Lung Disease Detection Challenges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96119" y="1396478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paper addresses the challenge of detecting lung diseases (tuberculosis, pneumonia, COVID-19, lung cancer) using chest X-ray images. Key problems: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7" y="1949895"/>
            <a:ext cx="8151763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fragmentation across hospitals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concerns with centralized data sharing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for accurate, generalizable models across diverse patient populations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labeled data at individual sites</a:t>
            </a:r>
            <a:endParaRPr lang="en-US" sz="9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F2B3D7-7DC1-5083-C506-774CB01B8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522" y="3217069"/>
            <a:ext cx="3067478" cy="18766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9F9A3F1-1815-1D2A-665E-187C2C4E6FB3}"/>
              </a:ext>
            </a:extLst>
          </p:cNvPr>
          <p:cNvSpPr txBox="1"/>
          <p:nvPr/>
        </p:nvSpPr>
        <p:spPr>
          <a:xfrm>
            <a:off x="8510451" y="4892040"/>
            <a:ext cx="633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7798"/>
            <a:ext cx="8151763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Taxonomy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894532"/>
            <a:ext cx="8151763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Categorization of Approaches </a:t>
            </a:r>
            <a:r>
              <a:rPr lang="en-US" sz="10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(across 95 reviewed studies)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3701186-7B2B-5FE8-C3B0-270AF045F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182" y="4841380"/>
            <a:ext cx="2448818" cy="25237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3D0BC26-9D7A-ACAD-8B22-9A06C9D13BCC}"/>
              </a:ext>
            </a:extLst>
          </p:cNvPr>
          <p:cNvSpPr txBox="1"/>
          <p:nvPr/>
        </p:nvSpPr>
        <p:spPr>
          <a:xfrm>
            <a:off x="8510451" y="4892040"/>
            <a:ext cx="633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A643366-4D69-C11C-8D01-270FA4D003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7291" y="1756145"/>
            <a:ext cx="4227577" cy="210211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F199B33-D34E-AC5D-C3E8-10057947B709}"/>
              </a:ext>
            </a:extLst>
          </p:cNvPr>
          <p:cNvSpPr txBox="1"/>
          <p:nvPr/>
        </p:nvSpPr>
        <p:spPr>
          <a:xfrm>
            <a:off x="496119" y="1479146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latin typeface="Petrona Bold" panose="020B0604020202020204" charset="0"/>
                <a:ea typeface="Inter" panose="020B0604020202020204" charset="0"/>
              </a:rPr>
              <a:t>Distribution of Federated Learning Approaches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4138617-FACA-B953-C5F2-B7EC27A8B6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37927" y="1756145"/>
            <a:ext cx="3442332" cy="211104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77AFD6F-7D14-35AC-2A49-9AE07FAD1296}"/>
              </a:ext>
            </a:extLst>
          </p:cNvPr>
          <p:cNvSpPr txBox="1"/>
          <p:nvPr/>
        </p:nvSpPr>
        <p:spPr>
          <a:xfrm>
            <a:off x="5149291" y="1499322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latin typeface="Petrona Bold" panose="020B0604020202020204" charset="0"/>
              </a:rPr>
              <a:t>Disease Application Distribution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4664"/>
            <a:ext cx="8151763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Security &amp; Privacy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861268"/>
            <a:ext cx="8151763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Protection in Federated Learning based Medical Imaging</a:t>
            </a:r>
            <a:endParaRPr lang="en-US" sz="125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A4ED3320-E98D-5934-DAAA-DAF7EBFE7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182" y="4841380"/>
            <a:ext cx="2448818" cy="252376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0162C645-F148-761F-067F-378F724A8199}"/>
              </a:ext>
            </a:extLst>
          </p:cNvPr>
          <p:cNvSpPr txBox="1"/>
          <p:nvPr/>
        </p:nvSpPr>
        <p:spPr>
          <a:xfrm>
            <a:off x="8510451" y="4892040"/>
            <a:ext cx="633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pic>
        <p:nvPicPr>
          <p:cNvPr id="51" name="Image 0" descr="preencoded.png">
            <a:extLst>
              <a:ext uri="{FF2B5EF4-FFF2-40B4-BE49-F238E27FC236}">
                <a16:creationId xmlns:a16="http://schemas.microsoft.com/office/drawing/2014/main" id="{C28E5339-2AAC-9042-DD7C-8702BF7B14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448028"/>
            <a:ext cx="4013895" cy="951384"/>
          </a:xfrm>
          <a:prstGeom prst="rect">
            <a:avLst/>
          </a:prstGeom>
        </p:spPr>
      </p:pic>
      <p:sp>
        <p:nvSpPr>
          <p:cNvPr id="54" name="Text 2">
            <a:extLst>
              <a:ext uri="{FF2B5EF4-FFF2-40B4-BE49-F238E27FC236}">
                <a16:creationId xmlns:a16="http://schemas.microsoft.com/office/drawing/2014/main" id="{E936CA1E-4D6D-0E48-E50D-5FBDE395CD39}"/>
              </a:ext>
            </a:extLst>
          </p:cNvPr>
          <p:cNvSpPr/>
          <p:nvPr/>
        </p:nvSpPr>
        <p:spPr>
          <a:xfrm>
            <a:off x="691530" y="1586290"/>
            <a:ext cx="3680222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1) Federated Learning baseline</a:t>
            </a:r>
            <a:endParaRPr lang="en-US" sz="1250" dirty="0"/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F1A2C345-D2C3-4B71-E213-FD461465F69C}"/>
              </a:ext>
            </a:extLst>
          </p:cNvPr>
          <p:cNvSpPr/>
          <p:nvPr/>
        </p:nvSpPr>
        <p:spPr>
          <a:xfrm>
            <a:off x="691530" y="1864226"/>
            <a:ext cx="36802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patient data never leaves the hospital; only model weights or gradients are shared .</a:t>
            </a:r>
            <a:endParaRPr lang="en-US" sz="950" dirty="0"/>
          </a:p>
        </p:txBody>
      </p:sp>
      <p:pic>
        <p:nvPicPr>
          <p:cNvPr id="58" name="Image 1" descr="preencoded.png">
            <a:extLst>
              <a:ext uri="{FF2B5EF4-FFF2-40B4-BE49-F238E27FC236}">
                <a16:creationId xmlns:a16="http://schemas.microsoft.com/office/drawing/2014/main" id="{D0A6EBC0-5763-9094-5D41-A045EB50DD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987" y="1448028"/>
            <a:ext cx="4013895" cy="951384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AC412F29-C978-C2BD-251A-9E5775912E82}"/>
              </a:ext>
            </a:extLst>
          </p:cNvPr>
          <p:cNvSpPr/>
          <p:nvPr/>
        </p:nvSpPr>
        <p:spPr>
          <a:xfrm>
            <a:off x="4829398" y="1586290"/>
            <a:ext cx="3680222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2) Differential Privacy (DP)</a:t>
            </a:r>
            <a:endParaRPr lang="en-US" sz="1250" dirty="0"/>
          </a:p>
        </p:txBody>
      </p:sp>
      <p:sp>
        <p:nvSpPr>
          <p:cNvPr id="62" name="Text 5">
            <a:extLst>
              <a:ext uri="{FF2B5EF4-FFF2-40B4-BE49-F238E27FC236}">
                <a16:creationId xmlns:a16="http://schemas.microsoft.com/office/drawing/2014/main" id="{3CD5B96C-E405-87DF-0476-3A0EBF9D0EEB}"/>
              </a:ext>
            </a:extLst>
          </p:cNvPr>
          <p:cNvSpPr/>
          <p:nvPr/>
        </p:nvSpPr>
        <p:spPr>
          <a:xfrm>
            <a:off x="4829398" y="1864226"/>
            <a:ext cx="36802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Noise is added to model updates to reduce the risk of gradient inversion attacks.</a:t>
            </a:r>
            <a:endParaRPr lang="en-US" sz="95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B9995C86-2AFE-B49A-30BC-CC9629B26D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523386"/>
            <a:ext cx="4013895" cy="951384"/>
          </a:xfrm>
          <a:prstGeom prst="rect">
            <a:avLst/>
          </a:prstGeom>
        </p:spPr>
      </p:pic>
      <p:sp>
        <p:nvSpPr>
          <p:cNvPr id="66" name="Text 6">
            <a:extLst>
              <a:ext uri="{FF2B5EF4-FFF2-40B4-BE49-F238E27FC236}">
                <a16:creationId xmlns:a16="http://schemas.microsoft.com/office/drawing/2014/main" id="{7B9558BF-C6C1-790A-C129-D85EAF59C252}"/>
              </a:ext>
            </a:extLst>
          </p:cNvPr>
          <p:cNvSpPr/>
          <p:nvPr/>
        </p:nvSpPr>
        <p:spPr>
          <a:xfrm>
            <a:off x="691530" y="2661647"/>
            <a:ext cx="3680222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3) Secure Aggregation (SecAgg)</a:t>
            </a:r>
            <a:endParaRPr lang="en-US" sz="1250" dirty="0"/>
          </a:p>
        </p:txBody>
      </p:sp>
      <p:sp>
        <p:nvSpPr>
          <p:cNvPr id="68" name="Text 7">
            <a:extLst>
              <a:ext uri="{FF2B5EF4-FFF2-40B4-BE49-F238E27FC236}">
                <a16:creationId xmlns:a16="http://schemas.microsoft.com/office/drawing/2014/main" id="{539484A1-759D-074A-DF93-9A3D00894C98}"/>
              </a:ext>
            </a:extLst>
          </p:cNvPr>
          <p:cNvSpPr/>
          <p:nvPr/>
        </p:nvSpPr>
        <p:spPr>
          <a:xfrm>
            <a:off x="691530" y="2939584"/>
            <a:ext cx="36802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Cryptography ensures the server only sees aggregated updates, not individual client contributions.</a:t>
            </a:r>
            <a:endParaRPr lang="en-US" sz="950" dirty="0"/>
          </a:p>
        </p:txBody>
      </p:sp>
      <p:pic>
        <p:nvPicPr>
          <p:cNvPr id="70" name="Image 3" descr="preencoded.png">
            <a:extLst>
              <a:ext uri="{FF2B5EF4-FFF2-40B4-BE49-F238E27FC236}">
                <a16:creationId xmlns:a16="http://schemas.microsoft.com/office/drawing/2014/main" id="{4CC6EAEC-032E-C782-75A6-26FCF035DF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987" y="2523386"/>
            <a:ext cx="4013895" cy="951384"/>
          </a:xfrm>
          <a:prstGeom prst="rect">
            <a:avLst/>
          </a:prstGeom>
        </p:spPr>
      </p:pic>
      <p:sp>
        <p:nvSpPr>
          <p:cNvPr id="72" name="Text 8">
            <a:extLst>
              <a:ext uri="{FF2B5EF4-FFF2-40B4-BE49-F238E27FC236}">
                <a16:creationId xmlns:a16="http://schemas.microsoft.com/office/drawing/2014/main" id="{3700F665-77BE-D799-0F57-58E6FFD8200B}"/>
              </a:ext>
            </a:extLst>
          </p:cNvPr>
          <p:cNvSpPr/>
          <p:nvPr/>
        </p:nvSpPr>
        <p:spPr>
          <a:xfrm>
            <a:off x="4829398" y="2661647"/>
            <a:ext cx="3680222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4) Blockchain + Encryption</a:t>
            </a:r>
            <a:endParaRPr lang="en-US" sz="1250" dirty="0"/>
          </a:p>
        </p:txBody>
      </p:sp>
      <p:sp>
        <p:nvSpPr>
          <p:cNvPr id="74" name="Text 9">
            <a:extLst>
              <a:ext uri="{FF2B5EF4-FFF2-40B4-BE49-F238E27FC236}">
                <a16:creationId xmlns:a16="http://schemas.microsoft.com/office/drawing/2014/main" id="{52675DF9-42C9-F6E4-B8C7-1AB2647BB84F}"/>
              </a:ext>
            </a:extLst>
          </p:cNvPr>
          <p:cNvSpPr/>
          <p:nvPr/>
        </p:nvSpPr>
        <p:spPr>
          <a:xfrm>
            <a:off x="4829398" y="2939584"/>
            <a:ext cx="36802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Blockchain-based data management with encryption and unique patient IDs was used by Połap et al.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9312"/>
            <a:ext cx="8151763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Open Challenges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044" y="922910"/>
            <a:ext cx="8151763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Unsolved Problems in FL for Medical Image Analysis</a:t>
            </a:r>
            <a:endParaRPr lang="en-US" sz="1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F4AD5CD-4081-662D-D87C-3BB80466D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182" y="4841380"/>
            <a:ext cx="2448818" cy="25237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E6E6DEE-1130-7839-EAAC-09F0D05B9E06}"/>
              </a:ext>
            </a:extLst>
          </p:cNvPr>
          <p:cNvSpPr txBox="1"/>
          <p:nvPr/>
        </p:nvSpPr>
        <p:spPr>
          <a:xfrm>
            <a:off x="8510451" y="4892040"/>
            <a:ext cx="633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97C7D23D-7FEC-EF3E-CA57-882B735F7B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517410"/>
            <a:ext cx="4012629" cy="504974"/>
          </a:xfrm>
          <a:prstGeom prst="rect">
            <a:avLst/>
          </a:prstGeom>
        </p:spPr>
      </p:pic>
      <p:sp>
        <p:nvSpPr>
          <p:cNvPr id="25" name="Text 2">
            <a:extLst>
              <a:ext uri="{FF2B5EF4-FFF2-40B4-BE49-F238E27FC236}">
                <a16:creationId xmlns:a16="http://schemas.microsoft.com/office/drawing/2014/main" id="{007C782A-6F57-5452-9C58-8707DF23D206}"/>
              </a:ext>
            </a:extLst>
          </p:cNvPr>
          <p:cNvSpPr/>
          <p:nvPr/>
        </p:nvSpPr>
        <p:spPr>
          <a:xfrm>
            <a:off x="662955" y="1531697"/>
            <a:ext cx="3845793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1) Non-IID data distribution</a:t>
            </a:r>
            <a:endParaRPr lang="en-US" sz="1250" dirty="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A3E4C88-1730-83CC-A6AC-150C898CD822}"/>
              </a:ext>
            </a:extLst>
          </p:cNvPr>
          <p:cNvSpPr/>
          <p:nvPr/>
        </p:nvSpPr>
        <p:spPr>
          <a:xfrm>
            <a:off x="662955" y="1809634"/>
            <a:ext cx="38457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Hospitals differ in disease prevalence and imaging protocols.</a:t>
            </a:r>
            <a:endParaRPr lang="en-US" sz="950" dirty="0"/>
          </a:p>
        </p:txBody>
      </p:sp>
      <p:pic>
        <p:nvPicPr>
          <p:cNvPr id="29" name="Image 1" descr="preencoded.png">
            <a:extLst>
              <a:ext uri="{FF2B5EF4-FFF2-40B4-BE49-F238E27FC236}">
                <a16:creationId xmlns:a16="http://schemas.microsoft.com/office/drawing/2014/main" id="{AE28DCD3-5775-AF8F-1FFA-36C551F01D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9466" y="1517410"/>
            <a:ext cx="4012704" cy="504974"/>
          </a:xfrm>
          <a:prstGeom prst="rect">
            <a:avLst/>
          </a:prstGeom>
        </p:spPr>
      </p:pic>
      <p:sp>
        <p:nvSpPr>
          <p:cNvPr id="31" name="Text 4">
            <a:extLst>
              <a:ext uri="{FF2B5EF4-FFF2-40B4-BE49-F238E27FC236}">
                <a16:creationId xmlns:a16="http://schemas.microsoft.com/office/drawing/2014/main" id="{AD17CECE-2A52-3CA2-CE42-0903FC2EDF10}"/>
              </a:ext>
            </a:extLst>
          </p:cNvPr>
          <p:cNvSpPr/>
          <p:nvPr/>
        </p:nvSpPr>
        <p:spPr>
          <a:xfrm>
            <a:off x="4816302" y="1531697"/>
            <a:ext cx="3845868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2) Data heterogeneity</a:t>
            </a:r>
            <a:endParaRPr lang="en-US" sz="1250" dirty="0"/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D5202C1F-2577-7B47-D5A8-185C9F9111F0}"/>
              </a:ext>
            </a:extLst>
          </p:cNvPr>
          <p:cNvSpPr/>
          <p:nvPr/>
        </p:nvSpPr>
        <p:spPr>
          <a:xfrm>
            <a:off x="4816302" y="1809634"/>
            <a:ext cx="384586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data can vary by modality and feature space.</a:t>
            </a:r>
            <a:endParaRPr lang="en-US" sz="950" dirty="0"/>
          </a:p>
        </p:txBody>
      </p:sp>
      <p:pic>
        <p:nvPicPr>
          <p:cNvPr id="35" name="Image 2" descr="preencoded.png">
            <a:extLst>
              <a:ext uri="{FF2B5EF4-FFF2-40B4-BE49-F238E27FC236}">
                <a16:creationId xmlns:a16="http://schemas.microsoft.com/office/drawing/2014/main" id="{167F9860-9355-4805-42A0-9824423D14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241831"/>
            <a:ext cx="4012629" cy="504974"/>
          </a:xfrm>
          <a:prstGeom prst="rect">
            <a:avLst/>
          </a:prstGeom>
        </p:spPr>
      </p:pic>
      <p:sp>
        <p:nvSpPr>
          <p:cNvPr id="37" name="Text 6">
            <a:extLst>
              <a:ext uri="{FF2B5EF4-FFF2-40B4-BE49-F238E27FC236}">
                <a16:creationId xmlns:a16="http://schemas.microsoft.com/office/drawing/2014/main" id="{A5B76356-88D2-8032-EBBD-E567432A1C66}"/>
              </a:ext>
            </a:extLst>
          </p:cNvPr>
          <p:cNvSpPr/>
          <p:nvPr/>
        </p:nvSpPr>
        <p:spPr>
          <a:xfrm>
            <a:off x="662955" y="2256118"/>
            <a:ext cx="3845793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3) Model performance gap</a:t>
            </a:r>
            <a:endParaRPr lang="en-US" sz="1250" dirty="0"/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40E3EFAB-D2FE-0BED-320C-97D7C188FBD1}"/>
              </a:ext>
            </a:extLst>
          </p:cNvPr>
          <p:cNvSpPr/>
          <p:nvPr/>
        </p:nvSpPr>
        <p:spPr>
          <a:xfrm>
            <a:off x="662955" y="2534055"/>
            <a:ext cx="38457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 models often underperform traditional ML approaches.</a:t>
            </a:r>
            <a:endParaRPr lang="en-US" sz="950" dirty="0"/>
          </a:p>
        </p:txBody>
      </p:sp>
      <p:pic>
        <p:nvPicPr>
          <p:cNvPr id="41" name="Image 3" descr="preencoded.png">
            <a:extLst>
              <a:ext uri="{FF2B5EF4-FFF2-40B4-BE49-F238E27FC236}">
                <a16:creationId xmlns:a16="http://schemas.microsoft.com/office/drawing/2014/main" id="{77ED5935-C643-53CF-DB63-7FB0ECE8B6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9466" y="2241831"/>
            <a:ext cx="4012704" cy="504974"/>
          </a:xfrm>
          <a:prstGeom prst="rect">
            <a:avLst/>
          </a:prstGeom>
        </p:spPr>
      </p:pic>
      <p:sp>
        <p:nvSpPr>
          <p:cNvPr id="43" name="Text 8">
            <a:extLst>
              <a:ext uri="{FF2B5EF4-FFF2-40B4-BE49-F238E27FC236}">
                <a16:creationId xmlns:a16="http://schemas.microsoft.com/office/drawing/2014/main" id="{F934B744-23F0-DAD3-5A54-ED4EDCE797E5}"/>
              </a:ext>
            </a:extLst>
          </p:cNvPr>
          <p:cNvSpPr/>
          <p:nvPr/>
        </p:nvSpPr>
        <p:spPr>
          <a:xfrm>
            <a:off x="4816302" y="2256118"/>
            <a:ext cx="3845868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4) Communication overhead</a:t>
            </a:r>
            <a:endParaRPr lang="en-US" sz="1250" dirty="0"/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98FA8E81-76BE-E209-A18A-E96D5B868D82}"/>
              </a:ext>
            </a:extLst>
          </p:cNvPr>
          <p:cNvSpPr/>
          <p:nvPr/>
        </p:nvSpPr>
        <p:spPr>
          <a:xfrm>
            <a:off x="4816302" y="2534055"/>
            <a:ext cx="384586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large CNNs requires substantial bandwidth.</a:t>
            </a:r>
            <a:endParaRPr lang="en-US" sz="950" dirty="0"/>
          </a:p>
        </p:txBody>
      </p:sp>
      <p:pic>
        <p:nvPicPr>
          <p:cNvPr id="47" name="Image 4" descr="preencoded.png">
            <a:extLst>
              <a:ext uri="{FF2B5EF4-FFF2-40B4-BE49-F238E27FC236}">
                <a16:creationId xmlns:a16="http://schemas.microsoft.com/office/drawing/2014/main" id="{69627678-8DEE-0B58-6DAB-B00E0C27A8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966252"/>
            <a:ext cx="4012629" cy="504974"/>
          </a:xfrm>
          <a:prstGeom prst="rect">
            <a:avLst/>
          </a:prstGeom>
        </p:spPr>
      </p:pic>
      <p:sp>
        <p:nvSpPr>
          <p:cNvPr id="49" name="Text 10">
            <a:extLst>
              <a:ext uri="{FF2B5EF4-FFF2-40B4-BE49-F238E27FC236}">
                <a16:creationId xmlns:a16="http://schemas.microsoft.com/office/drawing/2014/main" id="{F28935FD-EA09-826D-5179-F13C58EF984B}"/>
              </a:ext>
            </a:extLst>
          </p:cNvPr>
          <p:cNvSpPr/>
          <p:nvPr/>
        </p:nvSpPr>
        <p:spPr>
          <a:xfrm>
            <a:off x="662955" y="2980539"/>
            <a:ext cx="3845793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5) Lack of standardized benchmarks</a:t>
            </a:r>
            <a:endParaRPr lang="en-US" sz="1250" dirty="0"/>
          </a:p>
        </p:txBody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8A951461-1079-D24E-7664-C24876324F81}"/>
              </a:ext>
            </a:extLst>
          </p:cNvPr>
          <p:cNvSpPr/>
          <p:nvPr/>
        </p:nvSpPr>
        <p:spPr>
          <a:xfrm>
            <a:off x="662955" y="3258476"/>
            <a:ext cx="38457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common FL benchmark exists for medical imaging.</a:t>
            </a:r>
            <a:endParaRPr lang="en-US" sz="950" dirty="0"/>
          </a:p>
        </p:txBody>
      </p:sp>
      <p:pic>
        <p:nvPicPr>
          <p:cNvPr id="53" name="Image 5" descr="preencoded.png">
            <a:extLst>
              <a:ext uri="{FF2B5EF4-FFF2-40B4-BE49-F238E27FC236}">
                <a16:creationId xmlns:a16="http://schemas.microsoft.com/office/drawing/2014/main" id="{E0BCCD8A-5957-0B05-61E6-875EC003D2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9466" y="2966252"/>
            <a:ext cx="4012704" cy="504974"/>
          </a:xfrm>
          <a:prstGeom prst="rect">
            <a:avLst/>
          </a:prstGeom>
        </p:spPr>
      </p:pic>
      <p:sp>
        <p:nvSpPr>
          <p:cNvPr id="55" name="Text 12">
            <a:extLst>
              <a:ext uri="{FF2B5EF4-FFF2-40B4-BE49-F238E27FC236}">
                <a16:creationId xmlns:a16="http://schemas.microsoft.com/office/drawing/2014/main" id="{12695C95-1F20-B4B7-74E8-AFE675955688}"/>
              </a:ext>
            </a:extLst>
          </p:cNvPr>
          <p:cNvSpPr/>
          <p:nvPr/>
        </p:nvSpPr>
        <p:spPr>
          <a:xfrm>
            <a:off x="4816302" y="2980539"/>
            <a:ext cx="3845868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6) Privacy concerns not fully solved</a:t>
            </a:r>
            <a:endParaRPr lang="en-US" sz="1250" dirty="0"/>
          </a:p>
        </p:txBody>
      </p:sp>
      <p:sp>
        <p:nvSpPr>
          <p:cNvPr id="57" name="Text 13">
            <a:extLst>
              <a:ext uri="{FF2B5EF4-FFF2-40B4-BE49-F238E27FC236}">
                <a16:creationId xmlns:a16="http://schemas.microsoft.com/office/drawing/2014/main" id="{108C3EAB-F82B-3747-DF3D-367BAEF670A6}"/>
              </a:ext>
            </a:extLst>
          </p:cNvPr>
          <p:cNvSpPr/>
          <p:nvPr/>
        </p:nvSpPr>
        <p:spPr>
          <a:xfrm>
            <a:off x="4816302" y="3258476"/>
            <a:ext cx="384586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Reverse engineering risks still remain.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>
            <a:extLst>
              <a:ext uri="{FF2B5EF4-FFF2-40B4-BE49-F238E27FC236}">
                <a16:creationId xmlns:a16="http://schemas.microsoft.com/office/drawing/2014/main" id="{CFB1D2B3-B41F-CE65-DF0D-97B3CF6BABA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58599A6-67E9-C8B7-8BE7-73F1A6B73D3A}"/>
              </a:ext>
            </a:extLst>
          </p:cNvPr>
          <p:cNvSpPr/>
          <p:nvPr/>
        </p:nvSpPr>
        <p:spPr>
          <a:xfrm>
            <a:off x="496119" y="468423"/>
            <a:ext cx="8151763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Critical Analysis</a:t>
            </a:r>
            <a:endParaRPr lang="en-US" sz="25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09E1049-F845-586A-4529-FD6C538A2D6C}"/>
              </a:ext>
            </a:extLst>
          </p:cNvPr>
          <p:cNvSpPr/>
          <p:nvPr/>
        </p:nvSpPr>
        <p:spPr>
          <a:xfrm>
            <a:off x="496119" y="925028"/>
            <a:ext cx="8151763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Limitations and Missing Perspectives</a:t>
            </a:r>
            <a:endParaRPr lang="en-US" sz="205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BD7F3DFC-DE21-E27F-908F-0D589224D084}"/>
              </a:ext>
            </a:extLst>
          </p:cNvPr>
          <p:cNvSpPr/>
          <p:nvPr/>
        </p:nvSpPr>
        <p:spPr>
          <a:xfrm>
            <a:off x="496119" y="1436699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assessment of the paper's limitations:</a:t>
            </a:r>
            <a:endParaRPr lang="en-US" sz="95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7B9F4CC8-84C6-56E5-D52D-537DB033A27A}"/>
              </a:ext>
            </a:extLst>
          </p:cNvPr>
          <p:cNvSpPr/>
          <p:nvPr/>
        </p:nvSpPr>
        <p:spPr>
          <a:xfrm>
            <a:off x="496119" y="1774688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966529C9-0DCD-2CF7-B9BA-A8111340E80D}"/>
              </a:ext>
            </a:extLst>
          </p:cNvPr>
          <p:cNvSpPr/>
          <p:nvPr/>
        </p:nvSpPr>
        <p:spPr>
          <a:xfrm>
            <a:off x="537976" y="1792138"/>
            <a:ext cx="195337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157CA000-7D85-4852-C8CE-7B4BB0B6DC28}"/>
              </a:ext>
            </a:extLst>
          </p:cNvPr>
          <p:cNvSpPr/>
          <p:nvPr/>
        </p:nvSpPr>
        <p:spPr>
          <a:xfrm>
            <a:off x="899145" y="1817327"/>
            <a:ext cx="2210842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Limited real-world validation</a:t>
            </a:r>
            <a:endParaRPr lang="en-US" sz="125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A9E04993-E3E7-D6AB-0163-CFD344C7D79D}"/>
              </a:ext>
            </a:extLst>
          </p:cNvPr>
          <p:cNvSpPr/>
          <p:nvPr/>
        </p:nvSpPr>
        <p:spPr>
          <a:xfrm>
            <a:off x="899145" y="2095263"/>
            <a:ext cx="221084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Mostly tested on public datasets rather than real multi-hospital networks.</a:t>
            </a:r>
            <a:endParaRPr lang="en-US" sz="95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FD1A9272-D7D3-49AF-72CA-6CEBC51D7A1C}"/>
              </a:ext>
            </a:extLst>
          </p:cNvPr>
          <p:cNvSpPr/>
          <p:nvPr/>
        </p:nvSpPr>
        <p:spPr>
          <a:xfrm>
            <a:off x="3264991" y="1774688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878CAA83-8459-5C2E-2CD8-9E89427A5B4B}"/>
              </a:ext>
            </a:extLst>
          </p:cNvPr>
          <p:cNvSpPr/>
          <p:nvPr/>
        </p:nvSpPr>
        <p:spPr>
          <a:xfrm>
            <a:off x="3306849" y="1792138"/>
            <a:ext cx="195337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02B8FD44-0562-A631-810C-5C477F028C1B}"/>
              </a:ext>
            </a:extLst>
          </p:cNvPr>
          <p:cNvSpPr/>
          <p:nvPr/>
        </p:nvSpPr>
        <p:spPr>
          <a:xfrm>
            <a:off x="3668018" y="1817327"/>
            <a:ext cx="2210916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Scalability questions</a:t>
            </a:r>
            <a:endParaRPr lang="en-US" sz="125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8A9954AE-6976-02FB-F7E7-0E6A840F55E3}"/>
              </a:ext>
            </a:extLst>
          </p:cNvPr>
          <p:cNvSpPr/>
          <p:nvPr/>
        </p:nvSpPr>
        <p:spPr>
          <a:xfrm>
            <a:off x="3668018" y="2095263"/>
            <a:ext cx="221091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is unclear how FL performs beyond small 2-4 client setups.</a:t>
            </a:r>
            <a:endParaRPr lang="en-US" sz="950" dirty="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5E187DAF-CFE2-D56B-EEB8-7BC3ADA8FAE7}"/>
              </a:ext>
            </a:extLst>
          </p:cNvPr>
          <p:cNvSpPr/>
          <p:nvPr/>
        </p:nvSpPr>
        <p:spPr>
          <a:xfrm>
            <a:off x="6033939" y="1774688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D5B52115-657B-D777-2062-DD3579AE797D}"/>
              </a:ext>
            </a:extLst>
          </p:cNvPr>
          <p:cNvSpPr/>
          <p:nvPr/>
        </p:nvSpPr>
        <p:spPr>
          <a:xfrm>
            <a:off x="6075797" y="1792138"/>
            <a:ext cx="195337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B345FD80-F90C-BB03-D712-5F9BE427426A}"/>
              </a:ext>
            </a:extLst>
          </p:cNvPr>
          <p:cNvSpPr/>
          <p:nvPr/>
        </p:nvSpPr>
        <p:spPr>
          <a:xfrm>
            <a:off x="6436965" y="1817327"/>
            <a:ext cx="2210916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Missing fairness analysis</a:t>
            </a:r>
            <a:endParaRPr lang="en-US" sz="125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240EE638-5057-E9F5-9D8B-7B4C9982FEAF}"/>
              </a:ext>
            </a:extLst>
          </p:cNvPr>
          <p:cNvSpPr/>
          <p:nvPr/>
        </p:nvSpPr>
        <p:spPr>
          <a:xfrm>
            <a:off x="6436965" y="2095263"/>
            <a:ext cx="2210916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Bias across race, gender, and socioeconomic status is largely unaddressed.</a:t>
            </a:r>
            <a:endParaRPr lang="en-US" sz="950" dirty="0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4222767A-4F49-AA7C-B26F-21138D53600C}"/>
              </a:ext>
            </a:extLst>
          </p:cNvPr>
          <p:cNvSpPr/>
          <p:nvPr/>
        </p:nvSpPr>
        <p:spPr>
          <a:xfrm>
            <a:off x="496119" y="2938672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6B9A6072-D5A8-D31D-98FB-6B359FDA0670}"/>
              </a:ext>
            </a:extLst>
          </p:cNvPr>
          <p:cNvSpPr/>
          <p:nvPr/>
        </p:nvSpPr>
        <p:spPr>
          <a:xfrm>
            <a:off x="537976" y="2956123"/>
            <a:ext cx="195337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500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6AA44ECE-C4BD-6C88-CB65-172893607670}"/>
              </a:ext>
            </a:extLst>
          </p:cNvPr>
          <p:cNvSpPr/>
          <p:nvPr/>
        </p:nvSpPr>
        <p:spPr>
          <a:xfrm>
            <a:off x="899145" y="2981312"/>
            <a:ext cx="359531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Lack of explainability</a:t>
            </a:r>
            <a:endParaRPr lang="en-US" sz="1250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7CACB8A9-346B-F919-6F56-DD4D15B7423A}"/>
              </a:ext>
            </a:extLst>
          </p:cNvPr>
          <p:cNvSpPr/>
          <p:nvPr/>
        </p:nvSpPr>
        <p:spPr>
          <a:xfrm>
            <a:off x="899145" y="3259248"/>
            <a:ext cx="359531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 papers include XAI, limiting clinician trust and interpretation.</a:t>
            </a:r>
            <a:endParaRPr lang="en-US" sz="950" dirty="0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9C485805-52C3-37DE-4847-D40C1267E43D}"/>
              </a:ext>
            </a:extLst>
          </p:cNvPr>
          <p:cNvSpPr/>
          <p:nvPr/>
        </p:nvSpPr>
        <p:spPr>
          <a:xfrm>
            <a:off x="4649465" y="2938672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21B333B8-32FA-5644-DD88-9B22416A673C}"/>
              </a:ext>
            </a:extLst>
          </p:cNvPr>
          <p:cNvSpPr/>
          <p:nvPr/>
        </p:nvSpPr>
        <p:spPr>
          <a:xfrm>
            <a:off x="4691323" y="2956123"/>
            <a:ext cx="195337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</a:t>
            </a:r>
            <a:endParaRPr lang="en-US" sz="150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821BFB71-2139-CD60-F568-75F37E25A44F}"/>
              </a:ext>
            </a:extLst>
          </p:cNvPr>
          <p:cNvSpPr/>
          <p:nvPr/>
        </p:nvSpPr>
        <p:spPr>
          <a:xfrm>
            <a:off x="5052492" y="2981312"/>
            <a:ext cx="3595390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 clinical deployment</a:t>
            </a:r>
            <a:endParaRPr lang="en-US" sz="1250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98F61B4C-24D2-8045-6800-2CF764D494E5}"/>
              </a:ext>
            </a:extLst>
          </p:cNvPr>
          <p:cNvSpPr/>
          <p:nvPr/>
        </p:nvSpPr>
        <p:spPr>
          <a:xfrm>
            <a:off x="5052492" y="3259248"/>
            <a:ext cx="35953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 of the papers report FDA/CE approval or real-world deployment.</a:t>
            </a:r>
            <a:endParaRPr lang="en-US" sz="95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37BFC90-F117-8179-44B9-3C1C99CB41AD}"/>
              </a:ext>
            </a:extLst>
          </p:cNvPr>
          <p:cNvSpPr txBox="1"/>
          <p:nvPr/>
        </p:nvSpPr>
        <p:spPr>
          <a:xfrm>
            <a:off x="8510451" y="4892040"/>
            <a:ext cx="633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219713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CE709E1-E9EF-3A14-1ADB-ADD2F459EDB0}"/>
              </a:ext>
            </a:extLst>
          </p:cNvPr>
          <p:cNvSpPr/>
          <p:nvPr/>
        </p:nvSpPr>
        <p:spPr>
          <a:xfrm>
            <a:off x="496119" y="356074"/>
            <a:ext cx="8151763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Takeaways</a:t>
            </a:r>
            <a:endParaRPr lang="en-US" sz="255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C08A171E-2324-EEA5-6363-088792E78626}"/>
              </a:ext>
            </a:extLst>
          </p:cNvPr>
          <p:cNvSpPr/>
          <p:nvPr/>
        </p:nvSpPr>
        <p:spPr>
          <a:xfrm>
            <a:off x="496119" y="970306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5FEACB42-0090-A2B4-C920-887583C3FCDA}"/>
              </a:ext>
            </a:extLst>
          </p:cNvPr>
          <p:cNvSpPr/>
          <p:nvPr/>
        </p:nvSpPr>
        <p:spPr>
          <a:xfrm>
            <a:off x="537976" y="987757"/>
            <a:ext cx="195337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173104F4-2074-3A46-EB23-D31515369C79}"/>
              </a:ext>
            </a:extLst>
          </p:cNvPr>
          <p:cNvSpPr/>
          <p:nvPr/>
        </p:nvSpPr>
        <p:spPr>
          <a:xfrm>
            <a:off x="899145" y="1010564"/>
            <a:ext cx="774873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Federated Learning is validated as a privacy-preserving approach for medical image analysis.</a:t>
            </a:r>
            <a:endParaRPr lang="en-US" sz="950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38A64152-A416-BE29-39AD-CB5CECA49DF0}"/>
              </a:ext>
            </a:extLst>
          </p:cNvPr>
          <p:cNvSpPr/>
          <p:nvPr/>
        </p:nvSpPr>
        <p:spPr>
          <a:xfrm>
            <a:off x="496119" y="1497381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39D1DDFE-027C-79BF-69E4-D0379BFD802A}"/>
              </a:ext>
            </a:extLst>
          </p:cNvPr>
          <p:cNvSpPr/>
          <p:nvPr/>
        </p:nvSpPr>
        <p:spPr>
          <a:xfrm>
            <a:off x="537976" y="1514831"/>
            <a:ext cx="195337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CBB94556-5D4B-A188-90DE-07C146238E75}"/>
              </a:ext>
            </a:extLst>
          </p:cNvPr>
          <p:cNvSpPr/>
          <p:nvPr/>
        </p:nvSpPr>
        <p:spPr>
          <a:xfrm>
            <a:off x="899145" y="1537639"/>
            <a:ext cx="774873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Horizontal FL (HFL) dominates with 14/17 papers; most common in COVID-19 detection (35.3%) and cancer diagnosis (29.4%).</a:t>
            </a:r>
            <a:endParaRPr lang="en-US" sz="950" dirty="0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96E55CBB-72F0-A9C3-8B47-C84B829EF52F}"/>
              </a:ext>
            </a:extLst>
          </p:cNvPr>
          <p:cNvSpPr/>
          <p:nvPr/>
        </p:nvSpPr>
        <p:spPr>
          <a:xfrm>
            <a:off x="496119" y="2024456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F7CFD598-0218-7885-6300-62CAE6F79D04}"/>
              </a:ext>
            </a:extLst>
          </p:cNvPr>
          <p:cNvSpPr/>
          <p:nvPr/>
        </p:nvSpPr>
        <p:spPr>
          <a:xfrm>
            <a:off x="537976" y="2041906"/>
            <a:ext cx="195337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D05F89FB-868D-DFFF-AEBD-1772E691063B}"/>
              </a:ext>
            </a:extLst>
          </p:cNvPr>
          <p:cNvSpPr/>
          <p:nvPr/>
        </p:nvSpPr>
        <p:spPr>
          <a:xfrm>
            <a:off x="899145" y="2064714"/>
            <a:ext cx="774873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privacy mechanisms exist: FL baseline, Differential Privacy, Secure Aggregation, and Blockchain encryption.</a:t>
            </a:r>
            <a:endParaRPr lang="en-US" sz="950" dirty="0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E4F2A318-1A1D-9F06-CC5E-A7EA9B41B602}"/>
              </a:ext>
            </a:extLst>
          </p:cNvPr>
          <p:cNvSpPr/>
          <p:nvPr/>
        </p:nvSpPr>
        <p:spPr>
          <a:xfrm>
            <a:off x="496119" y="2551531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C83CD105-F726-1773-4445-6BD65CE40E97}"/>
              </a:ext>
            </a:extLst>
          </p:cNvPr>
          <p:cNvSpPr/>
          <p:nvPr/>
        </p:nvSpPr>
        <p:spPr>
          <a:xfrm>
            <a:off x="537976" y="2568981"/>
            <a:ext cx="195337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D81251CC-F740-7F20-C459-CE882F87EC08}"/>
              </a:ext>
            </a:extLst>
          </p:cNvPr>
          <p:cNvSpPr/>
          <p:nvPr/>
        </p:nvSpPr>
        <p:spPr>
          <a:xfrm>
            <a:off x="899145" y="2591789"/>
            <a:ext cx="774873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gap: FL models underperform traditional ML in accuracy but offer superior privacy protection.</a:t>
            </a:r>
            <a:endParaRPr lang="en-US" sz="950" dirty="0"/>
          </a:p>
        </p:txBody>
      </p:sp>
      <p:sp>
        <p:nvSpPr>
          <p:cNvPr id="29" name="Shape 14">
            <a:extLst>
              <a:ext uri="{FF2B5EF4-FFF2-40B4-BE49-F238E27FC236}">
                <a16:creationId xmlns:a16="http://schemas.microsoft.com/office/drawing/2014/main" id="{68E6343C-6B5D-1D73-A504-FFBC45AB1858}"/>
              </a:ext>
            </a:extLst>
          </p:cNvPr>
          <p:cNvSpPr/>
          <p:nvPr/>
        </p:nvSpPr>
        <p:spPr>
          <a:xfrm>
            <a:off x="496119" y="3078606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476E9CE4-E741-631F-B5A8-8894F5BF9A15}"/>
              </a:ext>
            </a:extLst>
          </p:cNvPr>
          <p:cNvSpPr/>
          <p:nvPr/>
        </p:nvSpPr>
        <p:spPr>
          <a:xfrm>
            <a:off x="537976" y="3096056"/>
            <a:ext cx="195337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C087FCD7-E44B-4193-9B18-63FC9EF854AC}"/>
              </a:ext>
            </a:extLst>
          </p:cNvPr>
          <p:cNvSpPr/>
          <p:nvPr/>
        </p:nvSpPr>
        <p:spPr>
          <a:xfrm>
            <a:off x="899145" y="3118864"/>
            <a:ext cx="774873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Standardization needed: No benchmark FL model or dataset exists for medical imaging research.</a:t>
            </a:r>
            <a:endParaRPr lang="en-US" sz="950" dirty="0"/>
          </a:p>
        </p:txBody>
      </p:sp>
      <p:sp>
        <p:nvSpPr>
          <p:cNvPr id="35" name="Shape 17">
            <a:extLst>
              <a:ext uri="{FF2B5EF4-FFF2-40B4-BE49-F238E27FC236}">
                <a16:creationId xmlns:a16="http://schemas.microsoft.com/office/drawing/2014/main" id="{23815405-8161-B8D5-1506-F2CADDBFB9A6}"/>
              </a:ext>
            </a:extLst>
          </p:cNvPr>
          <p:cNvSpPr/>
          <p:nvPr/>
        </p:nvSpPr>
        <p:spPr>
          <a:xfrm>
            <a:off x="496119" y="3605680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18">
            <a:extLst>
              <a:ext uri="{FF2B5EF4-FFF2-40B4-BE49-F238E27FC236}">
                <a16:creationId xmlns:a16="http://schemas.microsoft.com/office/drawing/2014/main" id="{858E0604-9C65-B53A-9D7D-5BFFF74DE13D}"/>
              </a:ext>
            </a:extLst>
          </p:cNvPr>
          <p:cNvSpPr/>
          <p:nvPr/>
        </p:nvSpPr>
        <p:spPr>
          <a:xfrm>
            <a:off x="537976" y="3623131"/>
            <a:ext cx="195337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6</a:t>
            </a:r>
            <a:endParaRPr lang="en-US" sz="1500" dirty="0"/>
          </a:p>
        </p:txBody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78741111-B085-8947-5465-C2D0F608F253}"/>
              </a:ext>
            </a:extLst>
          </p:cNvPr>
          <p:cNvSpPr/>
          <p:nvPr/>
        </p:nvSpPr>
        <p:spPr>
          <a:xfrm>
            <a:off x="899145" y="3645938"/>
            <a:ext cx="774873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deployment remains absent: Zero papers report FDA/CE approval or clinical deployment.</a:t>
            </a:r>
            <a:endParaRPr lang="en-US" sz="95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75B371-90CF-D21C-2A30-1515ED3BB7F9}"/>
              </a:ext>
            </a:extLst>
          </p:cNvPr>
          <p:cNvSpPr txBox="1"/>
          <p:nvPr/>
        </p:nvSpPr>
        <p:spPr>
          <a:xfrm>
            <a:off x="8510451" y="4892040"/>
            <a:ext cx="633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05537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2D931121-9DE7-8A42-2981-DE2DB726F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182" y="4841380"/>
            <a:ext cx="2448818" cy="252376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C57B8C8B-B090-7794-C190-395D11BCCA6B}"/>
              </a:ext>
            </a:extLst>
          </p:cNvPr>
          <p:cNvSpPr txBox="1"/>
          <p:nvPr/>
        </p:nvSpPr>
        <p:spPr>
          <a:xfrm>
            <a:off x="8510451" y="4892040"/>
            <a:ext cx="633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9CFE5451-B97E-09C2-3F5A-CEC8BB7D2003}"/>
              </a:ext>
            </a:extLst>
          </p:cNvPr>
          <p:cNvSpPr/>
          <p:nvPr/>
        </p:nvSpPr>
        <p:spPr>
          <a:xfrm>
            <a:off x="358688" y="396163"/>
            <a:ext cx="8151763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Primary References</a:t>
            </a:r>
            <a:endParaRPr lang="en-US" sz="255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06ADAED4-3A17-A894-D7B6-AA432EFD115D}"/>
              </a:ext>
            </a:extLst>
          </p:cNvPr>
          <p:cNvSpPr/>
          <p:nvPr/>
        </p:nvSpPr>
        <p:spPr>
          <a:xfrm>
            <a:off x="358688" y="853868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papers reviewed in the systematic review:</a:t>
            </a:r>
            <a:endParaRPr lang="en-US" sz="95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EBEB0114-2F3E-A3FB-0DAD-08AF2FBDEC13}"/>
              </a:ext>
            </a:extLst>
          </p:cNvPr>
          <p:cNvSpPr/>
          <p:nvPr/>
        </p:nvSpPr>
        <p:spPr>
          <a:xfrm>
            <a:off x="358688" y="1389219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Sohan, M. F., &amp; Basalamah, A. (2023). "A Systematic Review on Federated Learning in Medical Image Analysis." IEEE Access, Vol. 11, pp. 28628-28644. 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/>
              </a:rPr>
              <a:t>DOI: 10.1109/ACCESS.2023.3260027</a:t>
            </a:r>
            <a:endParaRPr lang="en-US" sz="95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39732D6E-F98A-3470-32BD-173B8679D7EA}"/>
              </a:ext>
            </a:extLst>
          </p:cNvPr>
          <p:cNvSpPr/>
          <p:nvPr/>
        </p:nvSpPr>
        <p:spPr>
          <a:xfrm>
            <a:off x="358687" y="3792556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</a:t>
            </a: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comprehensive reference table containing most of the key references among 95+ references cited within the Sohan &amp; Basalamah (2023) paper is provided separately as a one-page PDF summary, covering all reviewed articles on FL in medical imaging.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D52D40F0-56C8-FC6C-65B7-A18660C3B497}"/>
              </a:ext>
            </a:extLst>
          </p:cNvPr>
          <p:cNvGrpSpPr/>
          <p:nvPr/>
        </p:nvGrpSpPr>
        <p:grpSpPr>
          <a:xfrm>
            <a:off x="465162" y="454892"/>
            <a:ext cx="8678838" cy="4613091"/>
            <a:chOff x="465162" y="454892"/>
            <a:chExt cx="8678838" cy="4613091"/>
          </a:xfrm>
        </p:grpSpPr>
        <p:sp>
          <p:nvSpPr>
            <p:cNvPr id="2" name="Text 0"/>
            <p:cNvSpPr/>
            <p:nvPr/>
          </p:nvSpPr>
          <p:spPr>
            <a:xfrm>
              <a:off x="465162" y="454892"/>
              <a:ext cx="8151763" cy="4070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550" b="1" dirty="0">
                  <a:solidFill>
                    <a:srgbClr val="000000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Conclusion</a:t>
              </a:r>
              <a:endParaRPr lang="en-US" sz="255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475655" y="902120"/>
              <a:ext cx="8151763" cy="24415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Key Takeaways and Future Directions</a:t>
              </a:r>
              <a:endParaRPr lang="en-US" sz="1500" dirty="0"/>
            </a:p>
          </p:txBody>
        </p:sp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5655" y="1400781"/>
              <a:ext cx="4035103" cy="644872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2405955" y="1614201"/>
              <a:ext cx="174427" cy="2180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350" b="1" dirty="0">
                  <a:solidFill>
                    <a:srgbClr val="272525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1</a:t>
              </a:r>
              <a:endParaRPr lang="en-US" sz="135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4634731" y="1524755"/>
              <a:ext cx="3848398" cy="396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9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FL is a promising privacy-preserving paradigm for collaborative medical AI, but real-world clinical deployment remains absent.</a:t>
              </a:r>
            </a:p>
          </p:txBody>
        </p:sp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0108" y="2076610"/>
              <a:ext cx="3026271" cy="644872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2406030" y="2290029"/>
              <a:ext cx="174427" cy="2180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350" b="1" dirty="0">
                  <a:solidFill>
                    <a:srgbClr val="272525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2</a:t>
              </a:r>
              <a:endParaRPr lang="en-US" sz="1350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4130352" y="2182665"/>
              <a:ext cx="4352776" cy="396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33000"/>
                </a:lnSpc>
              </a:pPr>
              <a:r>
                <a:rPr lang="en-US" sz="9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Privacy-utility tradeoff must be better quantified and optimized to make FL competitive with centralized approaches.</a:t>
              </a:r>
              <a:endParaRPr lang="en-US" sz="950" dirty="0"/>
            </a:p>
          </p:txBody>
        </p:sp>
        <p:sp>
          <p:nvSpPr>
            <p:cNvPr id="10" name="Shape 6"/>
            <p:cNvSpPr/>
            <p:nvPr/>
          </p:nvSpPr>
          <p:spPr>
            <a:xfrm>
              <a:off x="4037335" y="2059941"/>
              <a:ext cx="4538811" cy="7144"/>
            </a:xfrm>
            <a:prstGeom prst="roundRect">
              <a:avLst>
                <a:gd name="adj" fmla="val 729277"/>
              </a:avLst>
            </a:prstGeom>
            <a:solidFill>
              <a:srgbClr val="B2D4E5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1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84486" y="2752438"/>
              <a:ext cx="2017514" cy="644872"/>
            </a:xfrm>
            <a:prstGeom prst="rect">
              <a:avLst/>
            </a:prstGeom>
          </p:spPr>
        </p:pic>
        <p:sp>
          <p:nvSpPr>
            <p:cNvPr id="12" name="Text 7"/>
            <p:cNvSpPr/>
            <p:nvPr/>
          </p:nvSpPr>
          <p:spPr>
            <a:xfrm>
              <a:off x="2406030" y="2965858"/>
              <a:ext cx="174427" cy="2180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350" b="1" dirty="0">
                  <a:solidFill>
                    <a:srgbClr val="272525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3</a:t>
              </a:r>
              <a:endParaRPr lang="en-US" sz="1350" dirty="0"/>
            </a:p>
          </p:txBody>
        </p:sp>
        <p:sp>
          <p:nvSpPr>
            <p:cNvPr id="13" name="Text 8"/>
            <p:cNvSpPr/>
            <p:nvPr/>
          </p:nvSpPr>
          <p:spPr>
            <a:xfrm>
              <a:off x="3625974" y="2883533"/>
              <a:ext cx="4857155" cy="1984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ct val="133000"/>
                </a:lnSpc>
              </a:pPr>
              <a:r>
                <a:rPr lang="en-US" sz="9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Regulatory pathways (FDA/CE Mark) for federated systems must be established </a:t>
              </a:r>
            </a:p>
            <a:p>
              <a:pPr>
                <a:lnSpc>
                  <a:spcPct val="133000"/>
                </a:lnSpc>
              </a:pPr>
              <a:r>
                <a:rPr lang="en-US" sz="9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to enable clinical adoption.</a:t>
              </a:r>
              <a:endParaRPr lang="en-US" sz="950" dirty="0"/>
            </a:p>
          </p:txBody>
        </p:sp>
        <p:sp>
          <p:nvSpPr>
            <p:cNvPr id="14" name="Shape 9"/>
            <p:cNvSpPr/>
            <p:nvPr/>
          </p:nvSpPr>
          <p:spPr>
            <a:xfrm>
              <a:off x="3532956" y="2735769"/>
              <a:ext cx="5043190" cy="7144"/>
            </a:xfrm>
            <a:prstGeom prst="roundRect">
              <a:avLst>
                <a:gd name="adj" fmla="val 729277"/>
              </a:avLst>
            </a:prstGeom>
            <a:solidFill>
              <a:srgbClr val="B2D4E5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5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88865" y="3428267"/>
              <a:ext cx="1008757" cy="644872"/>
            </a:xfrm>
            <a:prstGeom prst="rect">
              <a:avLst/>
            </a:prstGeom>
          </p:spPr>
        </p:pic>
        <p:sp>
          <p:nvSpPr>
            <p:cNvPr id="16" name="Text 10"/>
            <p:cNvSpPr/>
            <p:nvPr/>
          </p:nvSpPr>
          <p:spPr>
            <a:xfrm>
              <a:off x="2406030" y="3563551"/>
              <a:ext cx="174427" cy="2180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350" b="1" dirty="0">
                  <a:solidFill>
                    <a:srgbClr val="272525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4</a:t>
              </a:r>
              <a:endParaRPr lang="en-US" sz="1350" dirty="0"/>
            </a:p>
          </p:txBody>
        </p:sp>
        <p:sp>
          <p:nvSpPr>
            <p:cNvPr id="17" name="Text 11"/>
            <p:cNvSpPr/>
            <p:nvPr/>
          </p:nvSpPr>
          <p:spPr>
            <a:xfrm>
              <a:off x="3121595" y="3552240"/>
              <a:ext cx="5361533" cy="396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9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Multi-modal FL (imaging + genomics + wearables) represents an important frontier for comprehensive patient care.</a:t>
              </a:r>
            </a:p>
          </p:txBody>
        </p:sp>
        <p:sp>
          <p:nvSpPr>
            <p:cNvPr id="18" name="Shape 12"/>
            <p:cNvSpPr/>
            <p:nvPr/>
          </p:nvSpPr>
          <p:spPr>
            <a:xfrm>
              <a:off x="3028578" y="3411598"/>
              <a:ext cx="5547568" cy="7144"/>
            </a:xfrm>
            <a:prstGeom prst="roundRect">
              <a:avLst>
                <a:gd name="adj" fmla="val 729277"/>
              </a:avLst>
            </a:prstGeom>
            <a:solidFill>
              <a:srgbClr val="B2D4E5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2AC6A11-612A-056D-92BE-65040244E2F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695182" y="4815607"/>
              <a:ext cx="2448818" cy="252376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01DCEEE-4EE2-A620-58C4-1F186A4730DC}"/>
              </a:ext>
            </a:extLst>
          </p:cNvPr>
          <p:cNvSpPr txBox="1"/>
          <p:nvPr/>
        </p:nvSpPr>
        <p:spPr>
          <a:xfrm>
            <a:off x="8510451" y="4892040"/>
            <a:ext cx="633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BF5506-5122-504B-F887-2086E92A939E}"/>
              </a:ext>
            </a:extLst>
          </p:cNvPr>
          <p:cNvSpPr txBox="1"/>
          <p:nvPr/>
        </p:nvSpPr>
        <p:spPr>
          <a:xfrm>
            <a:off x="3157945" y="1863864"/>
            <a:ext cx="28281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DA6502-F588-1525-0506-94FE1159800C}"/>
              </a:ext>
            </a:extLst>
          </p:cNvPr>
          <p:cNvSpPr txBox="1"/>
          <p:nvPr/>
        </p:nvSpPr>
        <p:spPr>
          <a:xfrm>
            <a:off x="4993276" y="2571750"/>
            <a:ext cx="444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Questions?</a:t>
            </a: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B4C6F9-CC49-11F8-4FB0-B23FA597794D}"/>
              </a:ext>
            </a:extLst>
          </p:cNvPr>
          <p:cNvSpPr txBox="1"/>
          <p:nvPr/>
        </p:nvSpPr>
        <p:spPr>
          <a:xfrm>
            <a:off x="8510451" y="4892040"/>
            <a:ext cx="633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05095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737</Words>
  <Application>Microsoft Office PowerPoint</Application>
  <PresentationFormat>On-screen Show (16:9)</PresentationFormat>
  <Paragraphs>120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Petrona Bold</vt:lpstr>
      <vt:lpstr>Inter Bold</vt:lpstr>
      <vt:lpstr>Constantia</vt:lpstr>
      <vt:lpstr>Times New Roman</vt:lpstr>
      <vt:lpstr>Arial</vt:lpstr>
      <vt:lpstr>Inter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Joy Kumar Dey</dc:creator>
  <cp:lastModifiedBy>Joy Kumar Dey</cp:lastModifiedBy>
  <cp:revision>5</cp:revision>
  <dcterms:created xsi:type="dcterms:W3CDTF">2026-07-24T19:20:14Z</dcterms:created>
  <dcterms:modified xsi:type="dcterms:W3CDTF">2026-07-25T05:42:29Z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2026-07-24T19:43:04Z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c1f38db9-cbc4-4f06-97cb-5981ac969a40</vt:lpwstr>
  </property>
  <property fmtid="{D5CDD505-2E9C-101B-9397-08002B2CF9AE}" pid="7" name="MSIP_Label_defa4170-0d19-0005-0004-bc88714345d2_ActionId">
    <vt:lpwstr>eed78ed2-6ac7-493d-851f-15eb467b79bd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