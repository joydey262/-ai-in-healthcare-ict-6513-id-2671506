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embeddedFontLst>
    <p:embeddedFont>
      <p:font typeface="Constantia" panose="02030602050306030303" pitchFamily="18" charset="0"/>
      <p:regular r:id="rId12"/>
      <p:bold r:id="rId13"/>
      <p:italic r:id="rId14"/>
      <p:boldItalic r:id="rId15"/>
    </p:embeddedFont>
    <p:embeddedFont>
      <p:font typeface="Inter" panose="020B0604020202020204" charset="0"/>
      <p:regular r:id="rId16"/>
    </p:embeddedFont>
    <p:embeddedFont>
      <p:font typeface="Inter Bold" panose="020B0604020202020204" charset="0"/>
      <p:regular r:id="rId17"/>
    </p:embeddedFont>
    <p:embeddedFont>
      <p:font typeface="Petrona Bold" panose="020B0604020202020204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9437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76E08C2-4D3A-E555-69FA-1A4B18824EE0}"/>
              </a:ext>
            </a:extLst>
          </p:cNvPr>
          <p:cNvGrpSpPr/>
          <p:nvPr/>
        </p:nvGrpSpPr>
        <p:grpSpPr>
          <a:xfrm>
            <a:off x="-3411" y="0"/>
            <a:ext cx="9650354" cy="5143500"/>
            <a:chOff x="-3411" y="0"/>
            <a:chExt cx="9650354" cy="514350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14E5F22-9DFF-1467-7F45-CFB36F3D5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3411" y="0"/>
              <a:ext cx="9150824" cy="5143500"/>
            </a:xfrm>
            <a:prstGeom prst="rect">
              <a:avLst/>
            </a:prstGeom>
          </p:spPr>
        </p:pic>
        <p:sp>
          <p:nvSpPr>
            <p:cNvPr id="3" name="Text 0"/>
            <p:cNvSpPr/>
            <p:nvPr/>
          </p:nvSpPr>
          <p:spPr>
            <a:xfrm>
              <a:off x="496119" y="847129"/>
              <a:ext cx="4503047" cy="20352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>
                <a:lnSpc>
                  <a:spcPct val="104000"/>
                </a:lnSpc>
                <a:buNone/>
              </a:pPr>
              <a:r>
                <a:rPr lang="en-US" sz="240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Comparative Analysis of Federated Learning and Centralized Approach for Detecting Different Lung Diseases</a:t>
              </a:r>
              <a:endParaRPr lang="en-US" sz="2400" dirty="0"/>
            </a:p>
          </p:txBody>
        </p:sp>
        <p:sp>
          <p:nvSpPr>
            <p:cNvPr id="4" name="Text 1"/>
            <p:cNvSpPr/>
            <p:nvPr/>
          </p:nvSpPr>
          <p:spPr>
            <a:xfrm>
              <a:off x="496119" y="2882354"/>
              <a:ext cx="5179963" cy="2480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1200" b="1" u="sng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Presented By</a:t>
              </a:r>
              <a:endParaRPr lang="en-US" sz="1200" dirty="0"/>
            </a:p>
          </p:txBody>
        </p:sp>
        <p:sp>
          <p:nvSpPr>
            <p:cNvPr id="5" name="Text 2"/>
            <p:cNvSpPr/>
            <p:nvPr/>
          </p:nvSpPr>
          <p:spPr>
            <a:xfrm>
              <a:off x="496119" y="3269977"/>
              <a:ext cx="4722763" cy="16351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1050"/>
                </a:spcAft>
                <a:buNone/>
              </a:pPr>
              <a:r>
                <a:rPr lang="en-US" sz="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Name: </a:t>
              </a: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Joy Kumar Dey</a:t>
              </a:r>
            </a:p>
            <a:p>
              <a:pPr marL="0" indent="0" algn="l">
                <a:spcAft>
                  <a:spcPts val="1050"/>
                </a:spcAft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ID: 2671506</a:t>
              </a:r>
              <a:endParaRPr lang="en-US" sz="950" dirty="0"/>
            </a:p>
            <a:p>
              <a:pPr marL="0" indent="0" algn="l">
                <a:spcAft>
                  <a:spcPts val="1050"/>
                </a:spcAft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Course Code: ICT 6513</a:t>
              </a:r>
              <a:endParaRPr lang="en-US" sz="950" dirty="0"/>
            </a:p>
            <a:p>
              <a:pPr marL="0" indent="0" algn="l"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Course Title: Artificial Intelligence in Healthcare</a:t>
              </a:r>
              <a:endParaRPr lang="en-US" sz="950" dirty="0"/>
            </a:p>
          </p:txBody>
        </p:sp>
        <p:pic>
          <p:nvPicPr>
            <p:cNvPr id="9" name="Picture 8" descr="What is Federated Learning? | A-Z of AI for Healthcare">
              <a:extLst>
                <a:ext uri="{FF2B5EF4-FFF2-40B4-BE49-F238E27FC236}">
                  <a16:creationId xmlns:a16="http://schemas.microsoft.com/office/drawing/2014/main" id="{6BABF124-E307-4157-AA94-5B480297BB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66980" y="1239455"/>
              <a:ext cx="5179963" cy="2913729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FD43754D-2D2C-657F-4573-656C7F131730}"/>
              </a:ext>
            </a:extLst>
          </p:cNvPr>
          <p:cNvSpPr txBox="1"/>
          <p:nvPr/>
        </p:nvSpPr>
        <p:spPr>
          <a:xfrm>
            <a:off x="-722002" y="53488"/>
            <a:ext cx="10377963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600" dirty="0">
                <a:latin typeface="Constantia" panose="02030602050306030303" pitchFamily="18" charset="0"/>
                <a:cs typeface="Arial" panose="020B0604020202020204" pitchFamily="34" charset="0"/>
              </a:rPr>
              <a:t>Institute of Information and Communication Technology</a:t>
            </a:r>
          </a:p>
          <a:p>
            <a:pPr algn="ctr">
              <a:defRPr/>
            </a:pPr>
            <a:r>
              <a:rPr lang="en-US" sz="2000" b="1" dirty="0">
                <a:solidFill>
                  <a:srgbClr val="007035"/>
                </a:solidFill>
                <a:latin typeface="Constantia" panose="02030602050306030303" pitchFamily="18" charset="0"/>
                <a:cs typeface="Arial" panose="020B0604020202020204" pitchFamily="34" charset="0"/>
              </a:rPr>
              <a:t>Khulna University of Engineering &amp; Technology, Khulna</a:t>
            </a:r>
          </a:p>
          <a:p>
            <a:pPr algn="ctr">
              <a:defRPr/>
            </a:pPr>
            <a:endParaRPr lang="en-US" sz="2400" dirty="0">
              <a:latin typeface="Constantia" panose="02030602050306030303" pitchFamily="18" charset="0"/>
              <a:cs typeface="Arial" panose="020B06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2863B02-0E95-1EC0-7B33-04C080019F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5821" y="53488"/>
            <a:ext cx="700905" cy="7703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29D7AA5-A36C-21EC-FA81-557D5A6E83C2}"/>
              </a:ext>
            </a:extLst>
          </p:cNvPr>
          <p:cNvGrpSpPr/>
          <p:nvPr/>
        </p:nvGrpSpPr>
        <p:grpSpPr>
          <a:xfrm>
            <a:off x="496117" y="422608"/>
            <a:ext cx="8647883" cy="4671148"/>
            <a:chOff x="496117" y="422608"/>
            <a:chExt cx="8647883" cy="4671148"/>
          </a:xfrm>
        </p:grpSpPr>
        <p:sp>
          <p:nvSpPr>
            <p:cNvPr id="2" name="Text 0"/>
            <p:cNvSpPr/>
            <p:nvPr/>
          </p:nvSpPr>
          <p:spPr>
            <a:xfrm>
              <a:off x="496118" y="422608"/>
              <a:ext cx="8151763" cy="40704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5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Outline</a:t>
              </a:r>
              <a:endParaRPr lang="en-US" sz="255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96117" y="912465"/>
              <a:ext cx="8151763" cy="21703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Problem Statement</a:t>
              </a:r>
              <a:endParaRPr lang="en-US" sz="900" dirty="0"/>
            </a:p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Taxonomy</a:t>
              </a:r>
              <a:endParaRPr lang="en-US" sz="900" dirty="0"/>
            </a:p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Security &amp; Privacy</a:t>
              </a:r>
              <a:endParaRPr lang="en-US" sz="900" dirty="0"/>
            </a:p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Open Challenges</a:t>
              </a:r>
              <a:endParaRPr lang="en-US" sz="900" dirty="0"/>
            </a:p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Critical Analysis</a:t>
              </a:r>
              <a:endParaRPr lang="en-US" sz="900" dirty="0"/>
            </a:p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Comparative Summary</a:t>
              </a:r>
              <a:endParaRPr lang="en-US" sz="900" dirty="0"/>
            </a:p>
            <a:p>
              <a:pPr marL="193040" indent="-193040" algn="l">
                <a:lnSpc>
                  <a:spcPct val="200000"/>
                </a:lnSpc>
                <a:buSzPct val="100000"/>
                <a:buChar char="•"/>
              </a:pPr>
              <a:r>
                <a:rPr lang="en-US" sz="9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Conclusion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6119" y="3356595"/>
              <a:ext cx="8151763" cy="87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33000"/>
                </a:lnSpc>
                <a:spcAft>
                  <a:spcPts val="1050"/>
                </a:spcAft>
                <a:buNone/>
              </a:pPr>
              <a:endParaRPr lang="en-US" sz="950" dirty="0"/>
            </a:p>
            <a:p>
              <a:pPr marL="0" indent="0" algn="l">
                <a:lnSpc>
                  <a:spcPct val="133000"/>
                </a:lnSpc>
                <a:spcAft>
                  <a:spcPts val="1050"/>
                </a:spcAft>
                <a:buNone/>
              </a:pPr>
              <a:endParaRPr lang="en-US" sz="950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FD955BC-AD43-4BB8-9298-1998784BF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76522" y="3217069"/>
              <a:ext cx="3067478" cy="1876687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AC61AEA-EFEB-BF07-94C1-AA84E528A389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8" y="457745"/>
            <a:ext cx="8151763" cy="407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Problem Statement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96118" y="914350"/>
            <a:ext cx="8151763" cy="3256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Lung Disease Detection Challenges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96119" y="1396478"/>
            <a:ext cx="8151763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paper addresses the challenge of detecting lung diseases (tuberculosis, pneumonia, COVID-19, lung cancer) using chest X-ray images. Key problems: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96117" y="1949895"/>
            <a:ext cx="8151763" cy="923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fragmentation across hospitals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concerns with centralized data sharing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 for accurate, generalizable models across diverse patient populations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Limited labeled data at individual sites</a:t>
            </a:r>
            <a:endParaRPr lang="en-US" sz="9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F2B3D7-7DC1-5083-C506-774CB01B8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522" y="3217069"/>
            <a:ext cx="3067478" cy="18766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9F9A3F1-1815-1D2A-665E-187C2C4E6FB3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3E10D5E-A76B-6B99-4A14-4ECD06D3560D}"/>
              </a:ext>
            </a:extLst>
          </p:cNvPr>
          <p:cNvGrpSpPr/>
          <p:nvPr/>
        </p:nvGrpSpPr>
        <p:grpSpPr>
          <a:xfrm>
            <a:off x="496119" y="417798"/>
            <a:ext cx="8647881" cy="4675958"/>
            <a:chOff x="496119" y="417798"/>
            <a:chExt cx="8647881" cy="4675958"/>
          </a:xfrm>
        </p:grpSpPr>
        <p:sp>
          <p:nvSpPr>
            <p:cNvPr id="2" name="Text 0"/>
            <p:cNvSpPr/>
            <p:nvPr/>
          </p:nvSpPr>
          <p:spPr>
            <a:xfrm>
              <a:off x="496119" y="417798"/>
              <a:ext cx="8151763" cy="40704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5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Taxonomy</a:t>
              </a:r>
              <a:endParaRPr lang="en-US" sz="255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96119" y="894532"/>
              <a:ext cx="8151763" cy="32563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Categorization of Approaches</a:t>
              </a:r>
              <a:endParaRPr lang="en-US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496119" y="1545803"/>
              <a:ext cx="8151763" cy="14288"/>
            </a:xfrm>
            <a:prstGeom prst="roundRect">
              <a:avLst>
                <a:gd name="adj" fmla="val 364638"/>
              </a:avLst>
            </a:prstGeom>
            <a:solidFill>
              <a:srgbClr val="B2D4E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2488109" y="1545803"/>
              <a:ext cx="14288" cy="372070"/>
            </a:xfrm>
            <a:prstGeom prst="roundRect">
              <a:avLst>
                <a:gd name="adj" fmla="val 364638"/>
              </a:avLst>
            </a:prstGeom>
            <a:solidFill>
              <a:srgbClr val="B2D4E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2448744" y="1499295"/>
              <a:ext cx="93018" cy="93018"/>
            </a:xfrm>
            <a:prstGeom prst="ellipse">
              <a:avLst/>
            </a:prstGeom>
            <a:solidFill>
              <a:srgbClr val="007EBD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96119" y="1917948"/>
              <a:ext cx="3998342" cy="1756023"/>
            </a:xfrm>
            <a:prstGeom prst="roundRect">
              <a:avLst>
                <a:gd name="adj" fmla="val 2967"/>
              </a:avLst>
            </a:prstGeom>
            <a:solidFill>
              <a:srgbClr val="CCEEFF"/>
            </a:solidFill>
            <a:ln w="4763">
              <a:solidFill>
                <a:srgbClr val="B2D4E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624855" y="2046684"/>
              <a:ext cx="3740869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1) Centralized Learning</a:t>
              </a:r>
              <a:endParaRPr lang="en-US" sz="12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4855" y="2324621"/>
              <a:ext cx="3740869" cy="4713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33000"/>
                </a:lnSpc>
                <a:spcAft>
                  <a:spcPts val="550"/>
                </a:spcAft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All data pooled in one location, trained on a single model.</a:t>
              </a:r>
              <a:endParaRPr lang="en-US" sz="9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24855" y="2870374"/>
              <a:ext cx="3740869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2) Federated Learning</a:t>
              </a:r>
              <a:endParaRPr lang="en-US" sz="12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4855" y="3148310"/>
              <a:ext cx="3740869" cy="3969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Data stays local, models trained locally, only weights/gradients shared.</a:t>
              </a:r>
              <a:endParaRPr lang="en-US" sz="9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41529" y="1545803"/>
              <a:ext cx="14288" cy="372070"/>
            </a:xfrm>
            <a:prstGeom prst="roundRect">
              <a:avLst>
                <a:gd name="adj" fmla="val 364638"/>
              </a:avLst>
            </a:prstGeom>
            <a:solidFill>
              <a:srgbClr val="B2D4E5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6602164" y="1499295"/>
              <a:ext cx="93018" cy="93018"/>
            </a:xfrm>
            <a:prstGeom prst="ellipse">
              <a:avLst/>
            </a:prstGeom>
            <a:solidFill>
              <a:srgbClr val="007EBD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4649465" y="1917948"/>
              <a:ext cx="3998416" cy="2741042"/>
            </a:xfrm>
            <a:prstGeom prst="roundRect">
              <a:avLst>
                <a:gd name="adj" fmla="val 1901"/>
              </a:avLst>
            </a:prstGeom>
            <a:solidFill>
              <a:srgbClr val="CCEEFF"/>
            </a:solidFill>
            <a:ln w="4763">
              <a:solidFill>
                <a:srgbClr val="B2D4E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778201" y="2046684"/>
              <a:ext cx="3740944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n-US" sz="150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Architectural Differences</a:t>
              </a:r>
              <a:endParaRPr lang="en-US" sz="1500" dirty="0"/>
            </a:p>
          </p:txBody>
        </p:sp>
        <p:pic>
          <p:nvPicPr>
            <p:cNvPr id="16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82071" y="2430363"/>
              <a:ext cx="3733205" cy="209989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3701186-7B2B-5FE8-C3B0-270AF045F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95182" y="4841380"/>
              <a:ext cx="2448818" cy="252376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3D0BC26-9D7A-ACAD-8B22-9A06C9D13BCC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6B760406-5DC7-FAA4-5236-CBA1D4ABAFA0}"/>
              </a:ext>
            </a:extLst>
          </p:cNvPr>
          <p:cNvGrpSpPr/>
          <p:nvPr/>
        </p:nvGrpSpPr>
        <p:grpSpPr>
          <a:xfrm>
            <a:off x="396329" y="404664"/>
            <a:ext cx="8747671" cy="4689092"/>
            <a:chOff x="396329" y="404664"/>
            <a:chExt cx="8747671" cy="4689092"/>
          </a:xfrm>
        </p:grpSpPr>
        <p:sp>
          <p:nvSpPr>
            <p:cNvPr id="2" name="Text 0"/>
            <p:cNvSpPr/>
            <p:nvPr/>
          </p:nvSpPr>
          <p:spPr>
            <a:xfrm>
              <a:off x="496119" y="404664"/>
              <a:ext cx="8151763" cy="40704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5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Security &amp; Privacy</a:t>
              </a:r>
              <a:endParaRPr lang="en-US" sz="255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96119" y="861268"/>
              <a:ext cx="8151763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Data Protection in Federated Learning</a:t>
              </a:r>
              <a:endParaRPr lang="en-US" sz="125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6119" y="1250826"/>
              <a:ext cx="8608963" cy="19846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Key security mechanisms discussed: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6119" y="1588815"/>
              <a:ext cx="279053" cy="279053"/>
            </a:xfrm>
            <a:prstGeom prst="roundRect">
              <a:avLst>
                <a:gd name="adj" fmla="val 18670"/>
              </a:avLst>
            </a:prstGeom>
            <a:solidFill>
              <a:srgbClr val="CCEEFF"/>
            </a:solidFill>
            <a:ln w="4763">
              <a:solidFill>
                <a:srgbClr val="B2D4E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537976" y="1606265"/>
              <a:ext cx="195337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50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1</a:t>
              </a:r>
              <a:endParaRPr lang="en-US" sz="15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99145" y="1631454"/>
              <a:ext cx="1518642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Local data retention</a:t>
              </a:r>
              <a:endParaRPr lang="en-US" sz="12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99145" y="1909390"/>
              <a:ext cx="1518642" cy="317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raw patient data never leaves hospital</a:t>
              </a:r>
              <a:endParaRPr lang="en-US" sz="7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2572792" y="1588815"/>
              <a:ext cx="279053" cy="279053"/>
            </a:xfrm>
            <a:prstGeom prst="roundRect">
              <a:avLst>
                <a:gd name="adj" fmla="val 18670"/>
              </a:avLst>
            </a:prstGeom>
            <a:solidFill>
              <a:srgbClr val="CCEEFF"/>
            </a:solidFill>
            <a:ln w="4763">
              <a:solidFill>
                <a:srgbClr val="B2D4E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2614650" y="1606265"/>
              <a:ext cx="195337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50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2</a:t>
              </a:r>
              <a:endParaRPr lang="en-US" sz="15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5818" y="1631454"/>
              <a:ext cx="1518642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Gradient encryption</a:t>
              </a:r>
              <a:endParaRPr lang="en-US" sz="12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975818" y="1909390"/>
              <a:ext cx="1518642" cy="317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model updates can be encrypted before transmission</a:t>
              </a:r>
              <a:endParaRPr lang="en-US" sz="7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49465" y="1588815"/>
              <a:ext cx="279053" cy="279053"/>
            </a:xfrm>
            <a:prstGeom prst="roundRect">
              <a:avLst>
                <a:gd name="adj" fmla="val 18670"/>
              </a:avLst>
            </a:prstGeom>
            <a:solidFill>
              <a:srgbClr val="CCEEFF"/>
            </a:solidFill>
            <a:ln w="4763">
              <a:solidFill>
                <a:srgbClr val="B2D4E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4691323" y="1606265"/>
              <a:ext cx="195337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50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3</a:t>
              </a:r>
              <a:endParaRPr lang="en-US" sz="15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052492" y="1631454"/>
              <a:ext cx="1518642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Differential Privacy</a:t>
              </a:r>
              <a:endParaRPr lang="en-US" sz="12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52492" y="1909390"/>
              <a:ext cx="1518642" cy="317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noise added to protect individual records</a:t>
              </a:r>
              <a:endParaRPr lang="en-US" sz="7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726138" y="1588815"/>
              <a:ext cx="279053" cy="279053"/>
            </a:xfrm>
            <a:prstGeom prst="roundRect">
              <a:avLst>
                <a:gd name="adj" fmla="val 18670"/>
              </a:avLst>
            </a:prstGeom>
            <a:solidFill>
              <a:srgbClr val="CCEEFF"/>
            </a:solidFill>
            <a:ln w="4763">
              <a:solidFill>
                <a:srgbClr val="B2D4E5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767996" y="1606265"/>
              <a:ext cx="195337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50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4</a:t>
              </a:r>
              <a:endParaRPr lang="en-US" sz="15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129165" y="1631454"/>
              <a:ext cx="1518717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Secure aggregation</a:t>
              </a:r>
              <a:endParaRPr lang="en-US" sz="12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129165" y="1909390"/>
              <a:ext cx="1518717" cy="317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prevents server from seeing individual updates</a:t>
              </a:r>
              <a:endParaRPr lang="en-US" sz="7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96119" y="2413025"/>
              <a:ext cx="8151763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Privacy Comparison: Federated Learning vs. Centralized Approach</a:t>
              </a:r>
              <a:endParaRPr lang="en-US" sz="12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96119" y="2802582"/>
              <a:ext cx="8151763" cy="1936254"/>
            </a:xfrm>
            <a:prstGeom prst="roundRect">
              <a:avLst>
                <a:gd name="adj" fmla="val 2691"/>
              </a:avLst>
            </a:prstGeom>
            <a:noFill/>
            <a:ln w="4763">
              <a:solidFill>
                <a:srgbClr val="000000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496119" y="3126879"/>
              <a:ext cx="8151763" cy="7753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Shape 22"/>
            <p:cNvSpPr/>
            <p:nvPr/>
          </p:nvSpPr>
          <p:spPr>
            <a:xfrm>
              <a:off x="496119" y="3448794"/>
              <a:ext cx="8151763" cy="7753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496119" y="3770709"/>
              <a:ext cx="8151763" cy="7753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496119" y="4092625"/>
              <a:ext cx="8151763" cy="7753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496119" y="4414540"/>
              <a:ext cx="8151763" cy="7753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2052861" y="2802582"/>
              <a:ext cx="7753" cy="1936254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Shape 27"/>
            <p:cNvSpPr/>
            <p:nvPr/>
          </p:nvSpPr>
          <p:spPr>
            <a:xfrm>
              <a:off x="5770587" y="2802582"/>
              <a:ext cx="7753" cy="1936254"/>
            </a:xfrm>
            <a:prstGeom prst="rect">
              <a:avLst/>
            </a:prstGeom>
            <a:solidFill>
              <a:srgbClr val="000000">
                <a:alpha val="8000"/>
              </a:srgbClr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396329" y="2886521"/>
              <a:ext cx="175877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33000"/>
                </a:lnSpc>
                <a:buNone/>
              </a:pPr>
              <a:r>
                <a:rPr lang="en-US" sz="7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Feature</a:t>
              </a:r>
              <a:endParaRPr lang="en-US" sz="75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1950616" y="2886521"/>
              <a:ext cx="392221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33000"/>
                </a:lnSpc>
                <a:buNone/>
              </a:pPr>
              <a:r>
                <a:rPr lang="en-US" sz="7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Federated Learning</a:t>
              </a:r>
              <a:endParaRPr lang="en-US" sz="7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668342" y="2886521"/>
              <a:ext cx="3079403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33000"/>
                </a:lnSpc>
                <a:buNone/>
              </a:pPr>
              <a:r>
                <a:rPr lang="en-US" sz="7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Centralized Approach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4929" y="3208437"/>
              <a:ext cx="175877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Raw Data Location</a:t>
              </a:r>
              <a:endParaRPr lang="en-US" sz="75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2179216" y="3208437"/>
              <a:ext cx="392221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Remains local at source (e.g., hospital)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5896942" y="3208437"/>
              <a:ext cx="3079403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Aggregated on central server</a:t>
              </a:r>
              <a:endParaRPr lang="en-US" sz="75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24929" y="3530352"/>
              <a:ext cx="175877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Raw Data Access</a:t>
              </a:r>
              <a:endParaRPr lang="en-US" sz="75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2179216" y="3530352"/>
              <a:ext cx="392221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Never exposed to central server</a:t>
              </a:r>
              <a:endParaRPr lang="en-US" sz="75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96942" y="3530352"/>
              <a:ext cx="3079403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Accessible by central server (potentially)</a:t>
              </a:r>
              <a:endParaRPr lang="en-US" sz="75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624929" y="3852267"/>
              <a:ext cx="175877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Model Updates</a:t>
              </a:r>
              <a:endParaRPr lang="en-US" sz="75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2179216" y="3852267"/>
              <a:ext cx="392221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Encrypted gradients or aggregated insights sent</a:t>
              </a:r>
              <a:endParaRPr lang="en-US" sz="7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896942" y="3852267"/>
              <a:ext cx="3079403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Model trained directly on raw data</a:t>
              </a:r>
              <a:endParaRPr lang="en-US" sz="7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24929" y="4174182"/>
              <a:ext cx="175877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Privacy Mechanisms</a:t>
              </a:r>
              <a:endParaRPr lang="en-US" sz="7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179216" y="4174182"/>
              <a:ext cx="392221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Built-in (e.g., DP, Secure Aggregation)</a:t>
              </a:r>
              <a:endParaRPr lang="en-US" sz="7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5896942" y="4174182"/>
              <a:ext cx="3079403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Requires explicit anonymization or masking</a:t>
              </a:r>
              <a:endParaRPr lang="en-US" sz="7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24929" y="4496098"/>
              <a:ext cx="175877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Risk of Data Breach</a:t>
              </a:r>
              <a:endParaRPr lang="en-US" sz="7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179216" y="4496098"/>
              <a:ext cx="3922216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Reduced, as raw data is distributed</a:t>
              </a:r>
              <a:endParaRPr lang="en-US" sz="7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96942" y="4496098"/>
              <a:ext cx="3079403" cy="158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Higher, due to single point of failure</a:t>
              </a:r>
              <a:endParaRPr lang="en-US" sz="750" dirty="0"/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A4ED3320-E98D-5934-DAAA-DAF7EBFE7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95182" y="4841380"/>
              <a:ext cx="2448818" cy="252376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162C645-F148-761F-067F-378F724A8199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DECE5C7A-AB50-C3F1-0DF1-D94DD95C909B}"/>
              </a:ext>
            </a:extLst>
          </p:cNvPr>
          <p:cNvGrpSpPr/>
          <p:nvPr/>
        </p:nvGrpSpPr>
        <p:grpSpPr>
          <a:xfrm>
            <a:off x="496044" y="449312"/>
            <a:ext cx="8647956" cy="4644444"/>
            <a:chOff x="496044" y="449312"/>
            <a:chExt cx="8647956" cy="4644444"/>
          </a:xfrm>
        </p:grpSpPr>
        <p:sp>
          <p:nvSpPr>
            <p:cNvPr id="2" name="Text 0"/>
            <p:cNvSpPr/>
            <p:nvPr/>
          </p:nvSpPr>
          <p:spPr>
            <a:xfrm>
              <a:off x="496119" y="449312"/>
              <a:ext cx="8151763" cy="40704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5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Open Challenges</a:t>
              </a:r>
              <a:endParaRPr lang="en-US" sz="255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96044" y="922910"/>
              <a:ext cx="8151763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50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Unsolved Problems in FL for Lung Disease Detection</a:t>
              </a:r>
              <a:endParaRPr lang="en-US" sz="1500" dirty="0"/>
            </a:p>
          </p:txBody>
        </p:sp>
        <p:pic>
          <p:nvPicPr>
            <p:cNvPr id="4" name="Image 0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6119" y="1604814"/>
              <a:ext cx="2634555" cy="1348308"/>
            </a:xfrm>
            <a:prstGeom prst="rect">
              <a:avLst/>
            </a:prstGeom>
          </p:spPr>
        </p:pic>
        <p:sp>
          <p:nvSpPr>
            <p:cNvPr id="5" name="Text 2"/>
            <p:cNvSpPr/>
            <p:nvPr/>
          </p:nvSpPr>
          <p:spPr>
            <a:xfrm>
              <a:off x="691530" y="1743075"/>
              <a:ext cx="2300883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Non-IID data distribution</a:t>
              </a:r>
              <a:endParaRPr lang="en-US" sz="1250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691530" y="2021012"/>
              <a:ext cx="2300883" cy="79384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Different hospitals have different disease prevalence, leading to skewed data distributions across federated clients.</a:t>
              </a:r>
              <a:endParaRPr lang="en-US" sz="950" dirty="0"/>
            </a:p>
          </p:txBody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54648" y="1604814"/>
              <a:ext cx="2634630" cy="1348308"/>
            </a:xfrm>
            <a:prstGeom prst="rect">
              <a:avLst/>
            </a:prstGeom>
          </p:spPr>
        </p:pic>
        <p:sp>
          <p:nvSpPr>
            <p:cNvPr id="8" name="Text 4"/>
            <p:cNvSpPr/>
            <p:nvPr/>
          </p:nvSpPr>
          <p:spPr>
            <a:xfrm>
              <a:off x="3450059" y="1743075"/>
              <a:ext cx="2300957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Communication overhead</a:t>
              </a:r>
              <a:endParaRPr lang="en-US" sz="1250" dirty="0"/>
            </a:p>
          </p:txBody>
        </p:sp>
        <p:sp>
          <p:nvSpPr>
            <p:cNvPr id="9" name="Text 5"/>
            <p:cNvSpPr/>
            <p:nvPr/>
          </p:nvSpPr>
          <p:spPr>
            <a:xfrm>
              <a:off x="3450059" y="2021012"/>
              <a:ext cx="2300957" cy="79384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Transmitting large CNN models is bandwidth-intensive, especially for frequent updates between the central server and clients.</a:t>
              </a:r>
              <a:endParaRPr lang="en-US" sz="950" dirty="0"/>
            </a:p>
          </p:txBody>
        </p:sp>
        <p:pic>
          <p:nvPicPr>
            <p:cNvPr id="10" name="Image 2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13252" y="1604814"/>
              <a:ext cx="2634555" cy="1348308"/>
            </a:xfrm>
            <a:prstGeom prst="rect">
              <a:avLst/>
            </a:prstGeom>
          </p:spPr>
        </p:pic>
        <p:sp>
          <p:nvSpPr>
            <p:cNvPr id="11" name="Text 6"/>
            <p:cNvSpPr/>
            <p:nvPr/>
          </p:nvSpPr>
          <p:spPr>
            <a:xfrm>
              <a:off x="6208663" y="1743075"/>
              <a:ext cx="2300883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Model convergence</a:t>
              </a:r>
              <a:endParaRPr lang="en-US" sz="1250" dirty="0"/>
            </a:p>
          </p:txBody>
        </p:sp>
        <p:sp>
          <p:nvSpPr>
            <p:cNvPr id="12" name="Text 7"/>
            <p:cNvSpPr/>
            <p:nvPr/>
          </p:nvSpPr>
          <p:spPr>
            <a:xfrm>
              <a:off x="6208663" y="2021012"/>
              <a:ext cx="2300883" cy="79384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Ensuring all local models converge to a good global model is challenging due to data heterogeneity and diverse training environments.</a:t>
              </a:r>
              <a:endParaRPr lang="en-US" sz="950" dirty="0"/>
            </a:p>
          </p:txBody>
        </p:sp>
        <p:pic>
          <p:nvPicPr>
            <p:cNvPr id="13" name="Image 3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6119" y="3077096"/>
              <a:ext cx="2634555" cy="1348308"/>
            </a:xfrm>
            <a:prstGeom prst="rect">
              <a:avLst/>
            </a:prstGeom>
          </p:spPr>
        </p:pic>
        <p:sp>
          <p:nvSpPr>
            <p:cNvPr id="14" name="Text 8"/>
            <p:cNvSpPr/>
            <p:nvPr/>
          </p:nvSpPr>
          <p:spPr>
            <a:xfrm>
              <a:off x="691530" y="3215357"/>
              <a:ext cx="2300883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Heterogeneous hardware</a:t>
              </a:r>
              <a:endParaRPr lang="en-US" sz="1250" dirty="0"/>
            </a:p>
          </p:txBody>
        </p:sp>
        <p:sp>
          <p:nvSpPr>
            <p:cNvPr id="15" name="Text 9"/>
            <p:cNvSpPr/>
            <p:nvPr/>
          </p:nvSpPr>
          <p:spPr>
            <a:xfrm>
              <a:off x="691530" y="3493294"/>
              <a:ext cx="2300883" cy="79384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Different hospitals have varying computational resources, impacting training times and model complexity across the federated network.</a:t>
              </a:r>
              <a:endParaRPr lang="en-US" sz="950" dirty="0"/>
            </a:p>
          </p:txBody>
        </p:sp>
        <p:pic>
          <p:nvPicPr>
            <p:cNvPr id="16" name="Image 4" descr="preencoded.png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54648" y="3077096"/>
              <a:ext cx="2634630" cy="1348308"/>
            </a:xfrm>
            <a:prstGeom prst="rect">
              <a:avLst/>
            </a:prstGeom>
          </p:spPr>
        </p:pic>
        <p:sp>
          <p:nvSpPr>
            <p:cNvPr id="17" name="Text 10"/>
            <p:cNvSpPr/>
            <p:nvPr/>
          </p:nvSpPr>
          <p:spPr>
            <a:xfrm>
              <a:off x="3450059" y="3215357"/>
              <a:ext cx="2300957" cy="2035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2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Regulatory compliance</a:t>
              </a:r>
              <a:endParaRPr lang="en-US" sz="1250" dirty="0"/>
            </a:p>
          </p:txBody>
        </p:sp>
        <p:sp>
          <p:nvSpPr>
            <p:cNvPr id="18" name="Text 11"/>
            <p:cNvSpPr/>
            <p:nvPr/>
          </p:nvSpPr>
          <p:spPr>
            <a:xfrm>
              <a:off x="3450059" y="3493294"/>
              <a:ext cx="2300957" cy="79384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Ensuring HIPAA/GDPR compliance across federated systems requires robust privacy-preserving techniques and stringent data governance.</a:t>
              </a:r>
              <a:endParaRPr lang="en-US" sz="95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F4AD5CD-4081-662D-D87C-3BB80466D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95182" y="4841380"/>
              <a:ext cx="2448818" cy="252376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FE6E6DEE-1130-7839-EAAC-09F0D05B9E06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D2F0294-B8E2-C379-1FA9-539509599DAF}"/>
              </a:ext>
            </a:extLst>
          </p:cNvPr>
          <p:cNvGrpSpPr/>
          <p:nvPr/>
        </p:nvGrpSpPr>
        <p:grpSpPr>
          <a:xfrm>
            <a:off x="0" y="0"/>
            <a:ext cx="9144000" cy="5143500"/>
            <a:chOff x="0" y="0"/>
            <a:chExt cx="9326880" cy="5143500"/>
          </a:xfrm>
        </p:grpSpPr>
        <p:sp>
          <p:nvSpPr>
            <p:cNvPr id="4" name="Text 2"/>
            <p:cNvSpPr/>
            <p:nvPr/>
          </p:nvSpPr>
          <p:spPr>
            <a:xfrm>
              <a:off x="496118" y="1226790"/>
              <a:ext cx="8151763" cy="116584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193040" indent="-193040" algn="l">
                <a:lnSpc>
                  <a:spcPct val="133000"/>
                </a:lnSpc>
                <a:buSzPct val="100000"/>
                <a:buChar char="•"/>
              </a:pPr>
              <a:r>
                <a:rPr lang="en-US" sz="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Limited real-world validation</a:t>
              </a: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- experiments mostly on public datasets, not actual hospital networks</a:t>
              </a:r>
              <a:endParaRPr lang="en-US" sz="950" dirty="0"/>
            </a:p>
            <a:p>
              <a:pPr marL="193040" indent="-193040" algn="l">
                <a:lnSpc>
                  <a:spcPct val="133000"/>
                </a:lnSpc>
                <a:buSzPct val="100000"/>
                <a:buChar char="•"/>
              </a:pPr>
              <a:r>
                <a:rPr lang="en-US" sz="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Scalability questions</a:t>
              </a: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- unclear how well FL scales beyond 3-4 sites</a:t>
              </a:r>
              <a:endParaRPr lang="en-US" sz="950" dirty="0"/>
            </a:p>
            <a:p>
              <a:pPr marL="193040" indent="-193040" algn="l">
                <a:lnSpc>
                  <a:spcPct val="133000"/>
                </a:lnSpc>
                <a:buSzPct val="100000"/>
                <a:buChar char="•"/>
              </a:pPr>
              <a:r>
                <a:rPr lang="en-US" sz="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Missing fairness analysis</a:t>
              </a: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- no discussion of bias across different patient demographics</a:t>
              </a:r>
              <a:endParaRPr lang="en-US" sz="950" dirty="0"/>
            </a:p>
            <a:p>
              <a:pPr marL="193040" indent="-193040" algn="l">
                <a:lnSpc>
                  <a:spcPct val="133000"/>
                </a:lnSpc>
                <a:buSzPct val="100000"/>
                <a:buChar char="•"/>
              </a:pPr>
              <a:r>
                <a:rPr lang="en-US" sz="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Communication cost not fully analyzed</a:t>
              </a: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- bandwidth requirements not thoroughly quantified</a:t>
              </a:r>
              <a:endParaRPr lang="en-US" sz="950" dirty="0"/>
            </a:p>
            <a:p>
              <a:pPr marL="193040" indent="-193040" algn="l">
                <a:lnSpc>
                  <a:spcPct val="133000"/>
                </a:lnSpc>
                <a:buSzPct val="100000"/>
                <a:buChar char="•"/>
              </a:pPr>
              <a:r>
                <a:rPr lang="en-US" sz="950" b="1" dirty="0">
                  <a:solidFill>
                    <a:srgbClr val="272525"/>
                  </a:solidFill>
                  <a:latin typeface="Inter Bold" pitchFamily="34" charset="0"/>
                  <a:ea typeface="Inter Bold" pitchFamily="34" charset="-122"/>
                  <a:cs typeface="Inter Bold" pitchFamily="34" charset="-120"/>
                </a:rPr>
                <a:t>Lack of explainability</a:t>
              </a: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 - no discussion of how to interpret model decisions for clinicians</a:t>
              </a:r>
              <a:endParaRPr lang="en-US" sz="950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4B9C7BB-3C43-2917-7637-89506D7CD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95182" y="4841380"/>
              <a:ext cx="2448818" cy="25237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1680DCA-9EA2-9A49-4D69-FB3D87EC7D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6970"/>
            <a:stretch>
              <a:fillRect/>
            </a:stretch>
          </p:blipFill>
          <p:spPr>
            <a:xfrm>
              <a:off x="182880" y="0"/>
              <a:ext cx="9144000" cy="5143500"/>
            </a:xfrm>
            <a:prstGeom prst="rect">
              <a:avLst/>
            </a:prstGeom>
          </p:spPr>
        </p:pic>
        <p:sp>
          <p:nvSpPr>
            <p:cNvPr id="2" name="Text 0"/>
            <p:cNvSpPr/>
            <p:nvPr/>
          </p:nvSpPr>
          <p:spPr>
            <a:xfrm>
              <a:off x="496118" y="479218"/>
              <a:ext cx="8151763" cy="40704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40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Critical Analysis</a:t>
              </a:r>
              <a:endParaRPr lang="en-US" sz="24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96118" y="886263"/>
              <a:ext cx="8151763" cy="32563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Limitations and Missing Perspectives</a:t>
              </a:r>
              <a:endParaRPr lang="en-US" sz="1400" dirty="0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E6002E0-EBFB-DF6E-2E75-E96632CEA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0"/>
              <a:ext cx="313238" cy="514350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069C79F-0207-650C-3ED7-D7040C359031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49089"/>
            <a:ext cx="8151763" cy="343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Comparative Summary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496119" y="969094"/>
            <a:ext cx="8608963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 vs Centralized Learning for Lung Disease Detection</a:t>
            </a:r>
            <a:endParaRPr lang="en-US" sz="800" dirty="0"/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1C3055AF-1B51-C06D-F161-4766A4515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3329100"/>
              </p:ext>
            </p:extLst>
          </p:nvPr>
        </p:nvGraphicFramePr>
        <p:xfrm>
          <a:off x="496119" y="1225550"/>
          <a:ext cx="3749310" cy="2836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2322">
                  <a:extLst>
                    <a:ext uri="{9D8B030D-6E8A-4147-A177-3AD203B41FA5}">
                      <a16:colId xmlns:a16="http://schemas.microsoft.com/office/drawing/2014/main" val="4222295950"/>
                    </a:ext>
                  </a:extLst>
                </a:gridCol>
                <a:gridCol w="1417218">
                  <a:extLst>
                    <a:ext uri="{9D8B030D-6E8A-4147-A177-3AD203B41FA5}">
                      <a16:colId xmlns:a16="http://schemas.microsoft.com/office/drawing/2014/main" val="2629804782"/>
                    </a:ext>
                  </a:extLst>
                </a:gridCol>
                <a:gridCol w="1249770">
                  <a:extLst>
                    <a:ext uri="{9D8B030D-6E8A-4147-A177-3AD203B41FA5}">
                      <a16:colId xmlns:a16="http://schemas.microsoft.com/office/drawing/2014/main" val="2856890330"/>
                    </a:ext>
                  </a:extLst>
                </a:gridCol>
              </a:tblGrid>
              <a:tr h="472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latin typeface="Inter" panose="020B0604020202020204" charset="0"/>
                          <a:ea typeface="Inter" panose="020B0604020202020204" charset="0"/>
                        </a:rPr>
                        <a:t>Criterion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Centralized Approach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Federated Learning Approach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957697"/>
                  </a:ext>
                </a:extLst>
              </a:tr>
              <a:tr h="472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latin typeface="Inter" panose="020B0604020202020204" charset="0"/>
                          <a:ea typeface="Inter" panose="020B0604020202020204" charset="0"/>
                        </a:rPr>
                        <a:t>Accuracy</a:t>
                      </a:r>
                      <a:endParaRPr lang="en-US" sz="800">
                        <a:latin typeface="Inter" panose="020B0604020202020204" charset="0"/>
                        <a:ea typeface="Int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latin typeface="Inter" panose="020B0604020202020204" charset="0"/>
                          <a:ea typeface="Inter" panose="020B0604020202020204" charset="0"/>
                        </a:rPr>
                        <a:t>High with sufficient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Competitive; comparable to centralized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9447142"/>
                  </a:ext>
                </a:extLst>
              </a:tr>
              <a:tr h="472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latin typeface="Inter" panose="020B0604020202020204" charset="0"/>
                          <a:ea typeface="Inter" panose="020B0604020202020204" charset="0"/>
                        </a:rPr>
                        <a:t>Privacy</a:t>
                      </a:r>
                      <a:endParaRPr lang="en-US" sz="800">
                        <a:latin typeface="Inter" panose="020B0604020202020204" charset="0"/>
                        <a:ea typeface="Int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Low; raw data aggregated centrally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High; raw data never leaves local site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92364"/>
                  </a:ext>
                </a:extLst>
              </a:tr>
              <a:tr h="472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latin typeface="Inter" panose="020B0604020202020204" charset="0"/>
                          <a:ea typeface="Inter" panose="020B0604020202020204" charset="0"/>
                        </a:rPr>
                        <a:t>Data Sharing</a:t>
                      </a:r>
                      <a:endParaRPr lang="en-US" sz="800">
                        <a:latin typeface="Inter" panose="020B0604020202020204" charset="0"/>
                        <a:ea typeface="Int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Full data sharing required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latin typeface="Inter" panose="020B0604020202020204" charset="0"/>
                          <a:ea typeface="Inter" panose="020B0604020202020204" charset="0"/>
                        </a:rPr>
                        <a:t>No raw data sharing; only model updates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8694478"/>
                  </a:ext>
                </a:extLst>
              </a:tr>
              <a:tr h="472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latin typeface="Inter" panose="020B0604020202020204" charset="0"/>
                          <a:ea typeface="Inter" panose="020B0604020202020204" charset="0"/>
                        </a:rPr>
                        <a:t>Communication Cost</a:t>
                      </a:r>
                      <a:endParaRPr lang="en-US" sz="800">
                        <a:latin typeface="Inter" panose="020B0604020202020204" charset="0"/>
                        <a:ea typeface="Int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Low after initial 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latin typeface="Inter" panose="020B0604020202020204" charset="0"/>
                          <a:ea typeface="Inter" panose="020B0604020202020204" charset="0"/>
                        </a:rPr>
                        <a:t>High; frequent model update exchanges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0463097"/>
                  </a:ext>
                </a:extLst>
              </a:tr>
              <a:tr h="4728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b="1">
                          <a:latin typeface="Inter" panose="020B0604020202020204" charset="0"/>
                          <a:ea typeface="Inter" panose="020B0604020202020204" charset="0"/>
                        </a:rPr>
                        <a:t>Scalability</a:t>
                      </a:r>
                      <a:endParaRPr lang="en-US" sz="800">
                        <a:latin typeface="Inter" panose="020B0604020202020204" charset="0"/>
                        <a:ea typeface="Int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>
                          <a:latin typeface="Inter" panose="020B0604020202020204" charset="0"/>
                          <a:ea typeface="Inter" panose="020B0604020202020204" charset="0"/>
                        </a:rPr>
                        <a:t>Limited by central server capacity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800" dirty="0">
                          <a:latin typeface="Inter" panose="020B0604020202020204" charset="0"/>
                          <a:ea typeface="Inter" panose="020B0604020202020204" charset="0"/>
                        </a:rPr>
                        <a:t>Highly scalable to many institutions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2227765"/>
                  </a:ext>
                </a:extLst>
              </a:tr>
            </a:tbl>
          </a:graphicData>
        </a:graphic>
      </p:graphicFrame>
      <p:pic>
        <p:nvPicPr>
          <p:cNvPr id="43" name="Picture 42">
            <a:extLst>
              <a:ext uri="{FF2B5EF4-FFF2-40B4-BE49-F238E27FC236}">
                <a16:creationId xmlns:a16="http://schemas.microsoft.com/office/drawing/2014/main" id="{168F7091-BFE2-A00D-2A3F-E2CF32AA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807" y="1354726"/>
            <a:ext cx="4715962" cy="257864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D931121-9DE7-8A42-2981-DE2DB726F7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182" y="4841380"/>
            <a:ext cx="2448818" cy="252376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57B8C8B-B090-7794-C190-395D11BCCA6B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D52D40F0-56C8-FC6C-65B7-A18660C3B497}"/>
              </a:ext>
            </a:extLst>
          </p:cNvPr>
          <p:cNvGrpSpPr/>
          <p:nvPr/>
        </p:nvGrpSpPr>
        <p:grpSpPr>
          <a:xfrm>
            <a:off x="465162" y="454892"/>
            <a:ext cx="8678838" cy="4613091"/>
            <a:chOff x="465162" y="454892"/>
            <a:chExt cx="8678838" cy="4613091"/>
          </a:xfrm>
        </p:grpSpPr>
        <p:sp>
          <p:nvSpPr>
            <p:cNvPr id="2" name="Text 0"/>
            <p:cNvSpPr/>
            <p:nvPr/>
          </p:nvSpPr>
          <p:spPr>
            <a:xfrm>
              <a:off x="465162" y="454892"/>
              <a:ext cx="8151763" cy="40704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255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Conclusion</a:t>
              </a:r>
              <a:endParaRPr lang="en-US" sz="255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75655" y="902120"/>
              <a:ext cx="8151763" cy="24415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04000"/>
                </a:lnSpc>
                <a:buNone/>
              </a:pPr>
              <a:r>
                <a:rPr lang="en-US" sz="1500" b="1" dirty="0">
                  <a:solidFill>
                    <a:srgbClr val="000000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Key Takeaways and Future Directions</a:t>
              </a:r>
              <a:endParaRPr lang="en-US" sz="1500" dirty="0"/>
            </a:p>
          </p:txBody>
        </p:sp>
        <p:pic>
          <p:nvPicPr>
            <p:cNvPr id="4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5655" y="1400781"/>
              <a:ext cx="4035103" cy="644872"/>
            </a:xfrm>
            <a:prstGeom prst="rect">
              <a:avLst/>
            </a:prstGeom>
          </p:spPr>
        </p:pic>
        <p:sp>
          <p:nvSpPr>
            <p:cNvPr id="5" name="Text 2"/>
            <p:cNvSpPr/>
            <p:nvPr/>
          </p:nvSpPr>
          <p:spPr>
            <a:xfrm>
              <a:off x="2405955" y="1614201"/>
              <a:ext cx="174427" cy="2180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1</a:t>
              </a:r>
              <a:endParaRPr lang="en-US" sz="1350" dirty="0"/>
            </a:p>
          </p:txBody>
        </p:sp>
        <p:sp>
          <p:nvSpPr>
            <p:cNvPr id="6" name="Text 3"/>
            <p:cNvSpPr/>
            <p:nvPr/>
          </p:nvSpPr>
          <p:spPr>
            <a:xfrm>
              <a:off x="4634731" y="1524755"/>
              <a:ext cx="3848398" cy="3969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Federated Learning achieves comparable accuracy to centralized learning while preserving privacy.</a:t>
              </a:r>
              <a:endParaRPr lang="en-US" sz="950" dirty="0"/>
            </a:p>
          </p:txBody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0108" y="2076610"/>
              <a:ext cx="3026271" cy="644872"/>
            </a:xfrm>
            <a:prstGeom prst="rect">
              <a:avLst/>
            </a:prstGeom>
          </p:spPr>
        </p:pic>
        <p:sp>
          <p:nvSpPr>
            <p:cNvPr id="8" name="Text 4"/>
            <p:cNvSpPr/>
            <p:nvPr/>
          </p:nvSpPr>
          <p:spPr>
            <a:xfrm>
              <a:off x="2406030" y="2290029"/>
              <a:ext cx="174427" cy="2180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2</a:t>
              </a:r>
              <a:endParaRPr lang="en-US" sz="1350" dirty="0"/>
            </a:p>
          </p:txBody>
        </p:sp>
        <p:sp>
          <p:nvSpPr>
            <p:cNvPr id="9" name="Text 5"/>
            <p:cNvSpPr/>
            <p:nvPr/>
          </p:nvSpPr>
          <p:spPr>
            <a:xfrm>
              <a:off x="4130352" y="2200583"/>
              <a:ext cx="4352776" cy="3969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FL is essential for healthcare where data cannot be centralized due to regulations.</a:t>
              </a:r>
              <a:endParaRPr lang="en-US" sz="950" dirty="0"/>
            </a:p>
          </p:txBody>
        </p:sp>
        <p:sp>
          <p:nvSpPr>
            <p:cNvPr id="10" name="Shape 6"/>
            <p:cNvSpPr/>
            <p:nvPr/>
          </p:nvSpPr>
          <p:spPr>
            <a:xfrm>
              <a:off x="4037335" y="2059941"/>
              <a:ext cx="4538811" cy="7144"/>
            </a:xfrm>
            <a:prstGeom prst="roundRect">
              <a:avLst>
                <a:gd name="adj" fmla="val 729277"/>
              </a:avLst>
            </a:prstGeom>
            <a:solidFill>
              <a:srgbClr val="B2D4E5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84486" y="2752438"/>
              <a:ext cx="2017514" cy="644872"/>
            </a:xfrm>
            <a:prstGeom prst="rect">
              <a:avLst/>
            </a:prstGeom>
          </p:spPr>
        </p:pic>
        <p:sp>
          <p:nvSpPr>
            <p:cNvPr id="12" name="Text 7"/>
            <p:cNvSpPr/>
            <p:nvPr/>
          </p:nvSpPr>
          <p:spPr>
            <a:xfrm>
              <a:off x="2406030" y="2965858"/>
              <a:ext cx="174427" cy="2180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3</a:t>
              </a:r>
              <a:endParaRPr lang="en-US" sz="1350" dirty="0"/>
            </a:p>
          </p:txBody>
        </p:sp>
        <p:sp>
          <p:nvSpPr>
            <p:cNvPr id="13" name="Text 8"/>
            <p:cNvSpPr/>
            <p:nvPr/>
          </p:nvSpPr>
          <p:spPr>
            <a:xfrm>
              <a:off x="3625974" y="2975606"/>
              <a:ext cx="4857155" cy="19846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Communication overhead is manageable with proper optimization.</a:t>
              </a:r>
              <a:endParaRPr lang="en-US" sz="950" dirty="0"/>
            </a:p>
          </p:txBody>
        </p:sp>
        <p:sp>
          <p:nvSpPr>
            <p:cNvPr id="14" name="Shape 9"/>
            <p:cNvSpPr/>
            <p:nvPr/>
          </p:nvSpPr>
          <p:spPr>
            <a:xfrm>
              <a:off x="3532956" y="2735769"/>
              <a:ext cx="5043190" cy="7144"/>
            </a:xfrm>
            <a:prstGeom prst="roundRect">
              <a:avLst>
                <a:gd name="adj" fmla="val 729277"/>
              </a:avLst>
            </a:prstGeom>
            <a:solidFill>
              <a:srgbClr val="B2D4E5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15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8865" y="3428267"/>
              <a:ext cx="1008757" cy="644872"/>
            </a:xfrm>
            <a:prstGeom prst="rect">
              <a:avLst/>
            </a:prstGeom>
          </p:spPr>
        </p:pic>
        <p:sp>
          <p:nvSpPr>
            <p:cNvPr id="16" name="Text 10"/>
            <p:cNvSpPr/>
            <p:nvPr/>
          </p:nvSpPr>
          <p:spPr>
            <a:xfrm>
              <a:off x="2406030" y="3563551"/>
              <a:ext cx="174427" cy="2180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ctr">
                <a:lnSpc>
                  <a:spcPct val="100000"/>
                </a:lnSpc>
                <a:buNone/>
              </a:pPr>
              <a:r>
                <a:rPr lang="en-US" sz="1350" b="1" dirty="0">
                  <a:solidFill>
                    <a:srgbClr val="272525"/>
                  </a:solidFill>
                  <a:latin typeface="Petrona Bold" pitchFamily="34" charset="0"/>
                  <a:ea typeface="Petrona Bold" pitchFamily="34" charset="-122"/>
                  <a:cs typeface="Petrona Bold" pitchFamily="34" charset="-120"/>
                </a:rPr>
                <a:t>4</a:t>
              </a:r>
              <a:endParaRPr lang="en-US" sz="1350" dirty="0"/>
            </a:p>
          </p:txBody>
        </p:sp>
        <p:sp>
          <p:nvSpPr>
            <p:cNvPr id="17" name="Text 11"/>
            <p:cNvSpPr/>
            <p:nvPr/>
          </p:nvSpPr>
          <p:spPr>
            <a:xfrm>
              <a:off x="3121595" y="3552240"/>
              <a:ext cx="5361533" cy="3969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3000"/>
                </a:lnSpc>
                <a:buNone/>
              </a:pPr>
              <a:r>
                <a:rPr lang="en-US" sz="9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Future work should focus on: handling non-IID data better, improving communication efficiency, adding explainability, testing on real multi-hospital networks.</a:t>
              </a:r>
              <a:endParaRPr lang="en-US" sz="950" dirty="0"/>
            </a:p>
          </p:txBody>
        </p:sp>
        <p:sp>
          <p:nvSpPr>
            <p:cNvPr id="18" name="Shape 12"/>
            <p:cNvSpPr/>
            <p:nvPr/>
          </p:nvSpPr>
          <p:spPr>
            <a:xfrm>
              <a:off x="3028578" y="3411598"/>
              <a:ext cx="5547568" cy="7144"/>
            </a:xfrm>
            <a:prstGeom prst="roundRect">
              <a:avLst>
                <a:gd name="adj" fmla="val 729277"/>
              </a:avLst>
            </a:prstGeom>
            <a:solidFill>
              <a:srgbClr val="B2D4E5"/>
            </a:solidFill>
            <a:ln/>
          </p:spPr>
          <p:txBody>
            <a:bodyPr/>
            <a:lstStyle/>
            <a:p>
              <a:endParaRPr lang="en-US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2AC6A11-612A-056D-92BE-65040244E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95182" y="4815607"/>
              <a:ext cx="2448818" cy="252376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901DCEEE-4EE2-A620-58C4-1F186A4730DC}"/>
              </a:ext>
            </a:extLst>
          </p:cNvPr>
          <p:cNvSpPr txBox="1"/>
          <p:nvPr/>
        </p:nvSpPr>
        <p:spPr>
          <a:xfrm>
            <a:off x="8510451" y="4892040"/>
            <a:ext cx="6335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654</Words>
  <Application>Microsoft Office PowerPoint</Application>
  <PresentationFormat>On-screen Show (16:9)</PresentationFormat>
  <Paragraphs>130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Inter Bold</vt:lpstr>
      <vt:lpstr>Petrona Bold</vt:lpstr>
      <vt:lpstr>Constantia</vt:lpstr>
      <vt:lpstr>Times New Roman</vt:lpstr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Joy Kumar Dey</dc:creator>
  <cp:lastModifiedBy>Joy Kumar Dey</cp:lastModifiedBy>
  <cp:revision>3</cp:revision>
  <dcterms:created xsi:type="dcterms:W3CDTF">2026-07-24T19:20:14Z</dcterms:created>
  <dcterms:modified xsi:type="dcterms:W3CDTF">2026-07-24T19:53:25Z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2026-07-24T19:43:04Z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c1f38db9-cbc4-4f06-97cb-5981ac969a40</vt:lpwstr>
  </property>
  <property fmtid="{D5CDD505-2E9C-101B-9397-08002B2CF9AE}" pid="7" name="MSIP_Label_defa4170-0d19-0005-0004-bc88714345d2_ActionId">
    <vt:lpwstr>eed78ed2-6ac7-493d-851f-15eb467b79bd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